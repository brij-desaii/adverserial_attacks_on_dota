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</p:sldIdLst>
  <p:sldSz cy="6858000" cx="12192000"/>
  <p:notesSz cx="6858000" cy="9144000"/>
  <p:embeddedFontLst>
    <p:embeddedFont>
      <p:font typeface="Inter"/>
      <p:regular r:id="rId30"/>
      <p:bold r:id="rId31"/>
      <p:italic r:id="rId32"/>
      <p:boldItalic r:id="rId33"/>
    </p:embeddedFont>
    <p:embeddedFont>
      <p:font typeface="Lato"/>
      <p:regular r:id="rId34"/>
      <p:bold r:id="rId35"/>
      <p:italic r:id="rId36"/>
      <p:boldItalic r:id="rId37"/>
    </p:embeddedFont>
    <p:embeddedFont>
      <p:font typeface="DM Sans"/>
      <p:regular r:id="rId38"/>
      <p:bold r:id="rId39"/>
      <p:italic r:id="rId40"/>
      <p:boldItalic r:id="rId41"/>
    </p:embeddedFont>
    <p:embeddedFont>
      <p:font typeface="JetBrains Mono"/>
      <p:regular r:id="rId42"/>
      <p:bold r:id="rId43"/>
      <p:italic r:id="rId44"/>
      <p:boldItalic r:id="rId4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DMSans-italic.fntdata"/><Relationship Id="rId20" Type="http://schemas.openxmlformats.org/officeDocument/2006/relationships/slide" Target="slides/slide15.xml"/><Relationship Id="rId42" Type="http://schemas.openxmlformats.org/officeDocument/2006/relationships/font" Target="fonts/JetBrainsMono-regular.fntdata"/><Relationship Id="rId41" Type="http://schemas.openxmlformats.org/officeDocument/2006/relationships/font" Target="fonts/DMSans-boldItalic.fntdata"/><Relationship Id="rId22" Type="http://schemas.openxmlformats.org/officeDocument/2006/relationships/slide" Target="slides/slide17.xml"/><Relationship Id="rId44" Type="http://schemas.openxmlformats.org/officeDocument/2006/relationships/font" Target="fonts/JetBrainsMono-italic.fntdata"/><Relationship Id="rId21" Type="http://schemas.openxmlformats.org/officeDocument/2006/relationships/slide" Target="slides/slide16.xml"/><Relationship Id="rId43" Type="http://schemas.openxmlformats.org/officeDocument/2006/relationships/font" Target="fonts/JetBrainsMono-bold.fntdata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45" Type="http://schemas.openxmlformats.org/officeDocument/2006/relationships/font" Target="fonts/JetBrainsMono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Inter-bold.fntdata"/><Relationship Id="rId30" Type="http://schemas.openxmlformats.org/officeDocument/2006/relationships/font" Target="fonts/Inter-regular.fntdata"/><Relationship Id="rId11" Type="http://schemas.openxmlformats.org/officeDocument/2006/relationships/slide" Target="slides/slide6.xml"/><Relationship Id="rId33" Type="http://schemas.openxmlformats.org/officeDocument/2006/relationships/font" Target="fonts/Inter-boldItalic.fntdata"/><Relationship Id="rId10" Type="http://schemas.openxmlformats.org/officeDocument/2006/relationships/slide" Target="slides/slide5.xml"/><Relationship Id="rId32" Type="http://schemas.openxmlformats.org/officeDocument/2006/relationships/font" Target="fonts/Inter-italic.fntdata"/><Relationship Id="rId13" Type="http://schemas.openxmlformats.org/officeDocument/2006/relationships/slide" Target="slides/slide8.xml"/><Relationship Id="rId35" Type="http://schemas.openxmlformats.org/officeDocument/2006/relationships/font" Target="fonts/Lato-bold.fntdata"/><Relationship Id="rId12" Type="http://schemas.openxmlformats.org/officeDocument/2006/relationships/slide" Target="slides/slide7.xml"/><Relationship Id="rId34" Type="http://schemas.openxmlformats.org/officeDocument/2006/relationships/font" Target="fonts/Lato-regular.fntdata"/><Relationship Id="rId15" Type="http://schemas.openxmlformats.org/officeDocument/2006/relationships/slide" Target="slides/slide10.xml"/><Relationship Id="rId37" Type="http://schemas.openxmlformats.org/officeDocument/2006/relationships/font" Target="fonts/Lato-boldItalic.fntdata"/><Relationship Id="rId14" Type="http://schemas.openxmlformats.org/officeDocument/2006/relationships/slide" Target="slides/slide9.xml"/><Relationship Id="rId36" Type="http://schemas.openxmlformats.org/officeDocument/2006/relationships/font" Target="fonts/Lato-italic.fntdata"/><Relationship Id="rId17" Type="http://schemas.openxmlformats.org/officeDocument/2006/relationships/slide" Target="slides/slide12.xml"/><Relationship Id="rId39" Type="http://schemas.openxmlformats.org/officeDocument/2006/relationships/font" Target="fonts/DMSans-bold.fntdata"/><Relationship Id="rId16" Type="http://schemas.openxmlformats.org/officeDocument/2006/relationships/slide" Target="slides/slide11.xml"/><Relationship Id="rId38" Type="http://schemas.openxmlformats.org/officeDocument/2006/relationships/font" Target="fonts/DMSans-regular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9a3377837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g39a3377837c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a3db4c7ba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g3a3db4c7baa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3aca6993735_1_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8" name="Google Shape;378;g3aca6993735_1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Relationship Id="rId4" Type="http://schemas.openxmlformats.org/officeDocument/2006/relationships/image" Target="../media/image2.png"/><Relationship Id="rId5" Type="http://schemas.openxmlformats.org/officeDocument/2006/relationships/image" Target="../media/image12.png"/><Relationship Id="rId6" Type="http://schemas.openxmlformats.org/officeDocument/2006/relationships/image" Target="../media/image30.png"/><Relationship Id="rId7" Type="http://schemas.openxmlformats.org/officeDocument/2006/relationships/image" Target="../media/image14.png"/><Relationship Id="rId8" Type="http://schemas.openxmlformats.org/officeDocument/2006/relationships/hyperlink" Target="https://github.com/brij-desaii/Adverserial_Attacks_On_DOTA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hyperlink" Target="https://github.com/davidgeorgewilliams/Aerial-YOLO-DOTA" TargetMode="External"/><Relationship Id="rId5" Type="http://schemas.openxmlformats.org/officeDocument/2006/relationships/hyperlink" Target="https://captain-whu.github.io/DOTA/dataset.html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png"/><Relationship Id="rId4" Type="http://schemas.openxmlformats.org/officeDocument/2006/relationships/image" Target="../media/image13.png"/><Relationship Id="rId5" Type="http://schemas.openxmlformats.org/officeDocument/2006/relationships/image" Target="../media/image23.png"/><Relationship Id="rId6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6.png"/><Relationship Id="rId5" Type="http://schemas.openxmlformats.org/officeDocument/2006/relationships/image" Target="../media/image1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.png"/><Relationship Id="rId4" Type="http://schemas.openxmlformats.org/officeDocument/2006/relationships/image" Target="../media/image3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1.png"/><Relationship Id="rId4" Type="http://schemas.openxmlformats.org/officeDocument/2006/relationships/image" Target="../media/image10.png"/><Relationship Id="rId5" Type="http://schemas.openxmlformats.org/officeDocument/2006/relationships/image" Target="../media/image8.png"/><Relationship Id="rId6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Relationship Id="rId4" Type="http://schemas.openxmlformats.org/officeDocument/2006/relationships/image" Target="../media/image2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9.png"/><Relationship Id="rId4" Type="http://schemas.openxmlformats.org/officeDocument/2006/relationships/image" Target="../media/image2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7.png"/><Relationship Id="rId4" Type="http://schemas.openxmlformats.org/officeDocument/2006/relationships/image" Target="../media/image2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8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9.png"/><Relationship Id="rId4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33637" y="4797067"/>
            <a:ext cx="1600200" cy="514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6" name="Google Shape;86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414831" y="4816108"/>
            <a:ext cx="1619250" cy="514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7" name="Google Shape;87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415087" y="4797067"/>
            <a:ext cx="1304925" cy="514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8" name="Google Shape;88;p1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101012" y="4797067"/>
            <a:ext cx="1657350" cy="51435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3"/>
          <p:cNvSpPr txBox="1"/>
          <p:nvPr/>
        </p:nvSpPr>
        <p:spPr>
          <a:xfrm>
            <a:off x="1828437" y="712866"/>
            <a:ext cx="8511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PROJECT REPORT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395400" y="1563675"/>
            <a:ext cx="11534400" cy="265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b="1" lang="en-US" sz="540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Adversarial Attacks on YOLOv9e for Aerial Object Detection</a:t>
            </a:r>
            <a:endParaRPr b="1" i="0" sz="5400" u="none" cap="none" strike="noStrike">
              <a:solidFill>
                <a:srgbClr val="38BDF8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5400">
              <a:solidFill>
                <a:srgbClr val="38BDF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1" name="Google Shape;91;p13"/>
          <p:cNvSpPr txBox="1"/>
          <p:nvPr/>
        </p:nvSpPr>
        <p:spPr>
          <a:xfrm>
            <a:off x="2126400" y="3595275"/>
            <a:ext cx="7939200" cy="33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Investigating Vulnerabilities in Aerial Object Detection through White-box, Black-box, and Patch-based Attacks</a:t>
            </a:r>
            <a:endParaRPr b="0" i="0" sz="21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ctr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ctr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ctr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u="sng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https://github.com/brij-desaii/Adverserial_Attacks_On_DOTA</a:t>
            </a:r>
            <a:endParaRPr sz="1600">
              <a:solidFill>
                <a:schemeClr val="accen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ctr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December 3rd, 2025</a:t>
            </a:r>
            <a:endParaRPr i="1" sz="21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ctr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92" name="Google Shape;92;p13"/>
          <p:cNvSpPr txBox="1"/>
          <p:nvPr/>
        </p:nvSpPr>
        <p:spPr>
          <a:xfrm>
            <a:off x="2719387" y="4978042"/>
            <a:ext cx="10287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Madhav Sood</a:t>
            </a:r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4700587" y="4978042"/>
            <a:ext cx="1047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Yukta Rajapur</a:t>
            </a:r>
            <a:endParaRPr/>
          </a:p>
        </p:txBody>
      </p:sp>
      <p:sp>
        <p:nvSpPr>
          <p:cNvPr id="94" name="Google Shape;94;p13"/>
          <p:cNvSpPr txBox="1"/>
          <p:nvPr/>
        </p:nvSpPr>
        <p:spPr>
          <a:xfrm>
            <a:off x="6700837" y="4978042"/>
            <a:ext cx="733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Brij Desai</a:t>
            </a:r>
            <a:endParaRPr/>
          </a:p>
        </p:txBody>
      </p:sp>
      <p:sp>
        <p:nvSpPr>
          <p:cNvPr id="95" name="Google Shape;95;p13"/>
          <p:cNvSpPr txBox="1"/>
          <p:nvPr/>
        </p:nvSpPr>
        <p:spPr>
          <a:xfrm>
            <a:off x="8386762" y="4978042"/>
            <a:ext cx="1086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Shlok Agrawal</a:t>
            </a:r>
            <a:endParaRPr/>
          </a:p>
        </p:txBody>
      </p:sp>
      <p:sp>
        <p:nvSpPr>
          <p:cNvPr id="96" name="Google Shape;96;p13"/>
          <p:cNvSpPr txBox="1"/>
          <p:nvPr/>
        </p:nvSpPr>
        <p:spPr>
          <a:xfrm>
            <a:off x="11739050" y="1761550"/>
            <a:ext cx="9144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1" name="Google Shape;10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38875" y="0"/>
            <a:ext cx="595312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571500" y="762000"/>
            <a:ext cx="5050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Project </a:t>
            </a:r>
            <a:r>
              <a:rPr b="1" lang="en-US"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Overview</a:t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03" name="Google Shape;103;p14"/>
          <p:cNvSpPr/>
          <p:nvPr/>
        </p:nvSpPr>
        <p:spPr>
          <a:xfrm>
            <a:off x="571500" y="1476375"/>
            <a:ext cx="4810200" cy="28500"/>
          </a:xfrm>
          <a:prstGeom prst="rect">
            <a:avLst/>
          </a:prstGeom>
          <a:solidFill>
            <a:srgbClr val="11CA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4"/>
          <p:cNvSpPr txBox="1"/>
          <p:nvPr/>
        </p:nvSpPr>
        <p:spPr>
          <a:xfrm>
            <a:off x="571500" y="1905000"/>
            <a:ext cx="5413800" cy="100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The Model:</a:t>
            </a:r>
            <a:r>
              <a:rPr b="0" i="0" lang="en-US" sz="1650" u="none" cap="none" strike="noStrik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 YOLOv9e (Extended). Pretrained model used. </a:t>
            </a:r>
            <a:r>
              <a:rPr lang="en-US" sz="165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600" u="sng">
                <a:solidFill>
                  <a:srgbClr val="7890CD"/>
                </a:solidFill>
                <a:latin typeface="Lato"/>
                <a:ea typeface="Lato"/>
                <a:cs typeface="Lato"/>
                <a:sym typeface="Lat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https://github.com/davidgeorgewilliams/Aerial-YOLO-DOTA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05" name="Google Shape;105;p14"/>
          <p:cNvSpPr txBox="1"/>
          <p:nvPr/>
        </p:nvSpPr>
        <p:spPr>
          <a:xfrm>
            <a:off x="571500" y="3267075"/>
            <a:ext cx="4810200" cy="139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The Dataset:</a:t>
            </a:r>
            <a:r>
              <a:rPr b="0" i="0" lang="en-US" sz="1650" u="none" cap="none" strike="noStrik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 DOTA (Dataset for Object Detection in Aerial Images). Challenges include massive image sizes (4000x4000) and high object density. </a:t>
            </a:r>
            <a:r>
              <a:rPr lang="en-US" sz="1600" u="sng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DOTA-v2.0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106" name="Google Shape;106;p14"/>
          <p:cNvSpPr txBox="1"/>
          <p:nvPr/>
        </p:nvSpPr>
        <p:spPr>
          <a:xfrm>
            <a:off x="571500" y="5202525"/>
            <a:ext cx="48102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The Goal:</a:t>
            </a:r>
            <a:r>
              <a:rPr b="0" i="0" lang="en-US" sz="1650" u="none" cap="none" strike="noStrike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 To evaluate vulnerability to imperceptible perturbations (FGSM, One-Pixel) and physical-world threats (Patches).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1" name="Google Shape;11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81750" y="2201167"/>
            <a:ext cx="2590800" cy="1457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2" name="Google Shape;112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163050" y="2201167"/>
            <a:ext cx="2457450" cy="1457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3" name="Google Shape;113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3848992"/>
            <a:ext cx="2590800" cy="1657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4" name="Google Shape;114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163050" y="3848992"/>
            <a:ext cx="2457450" cy="165735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5"/>
          <p:cNvSpPr txBox="1"/>
          <p:nvPr/>
        </p:nvSpPr>
        <p:spPr>
          <a:xfrm>
            <a:off x="762000" y="476250"/>
            <a:ext cx="45006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HIGHLIGHTS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571500" y="476250"/>
            <a:ext cx="38100" cy="37713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5"/>
          <p:cNvSpPr txBox="1"/>
          <p:nvPr/>
        </p:nvSpPr>
        <p:spPr>
          <a:xfrm>
            <a:off x="571500" y="1303925"/>
            <a:ext cx="101859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We subjected the YOLOv9e model (trained on DOTA aerial imagery) to three distinct categories of adversarial attacks. </a:t>
            </a:r>
            <a:r>
              <a:rPr lang="en-US" sz="15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All of these experiments were done with 374 validation images.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18" name="Google Shape;118;p15"/>
          <p:cNvSpPr txBox="1"/>
          <p:nvPr/>
        </p:nvSpPr>
        <p:spPr>
          <a:xfrm>
            <a:off x="571500" y="2316400"/>
            <a:ext cx="5334000" cy="17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 u="sng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Whitebox Attack (FGSM)</a:t>
            </a:r>
            <a:r>
              <a:rPr b="1" lang="en-US" sz="15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: </a:t>
            </a:r>
            <a:r>
              <a:rPr lang="en-US" sz="15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Highly effective </a:t>
            </a:r>
            <a:r>
              <a:rPr b="0" i="0" lang="en-US" sz="15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Caused a massive </a:t>
            </a:r>
            <a:r>
              <a:rPr b="1" i="0" lang="en-US" sz="15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20% drop</a:t>
            </a:r>
            <a:r>
              <a:rPr b="0" i="0" lang="en-US" sz="15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 in mAP, proving the model is brittle to gradient-aligned noise.</a:t>
            </a:r>
            <a:endParaRPr b="0" i="0" sz="1500" u="none" cap="none" strike="noStrike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9" name="Google Shape;119;p15"/>
          <p:cNvSpPr txBox="1"/>
          <p:nvPr/>
        </p:nvSpPr>
        <p:spPr>
          <a:xfrm>
            <a:off x="550875" y="4988797"/>
            <a:ext cx="52389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 u="sng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Pixel Attack (Black-box):</a:t>
            </a:r>
            <a:r>
              <a:rPr b="1" lang="en-US" sz="15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5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Ineffective. P</a:t>
            </a:r>
            <a:r>
              <a:rPr b="0" i="0" lang="en-US" sz="15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erturbations failed to significantly degrade performance, showing robustness to sparse noise.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550879" y="3658498"/>
            <a:ext cx="52389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 u="sng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Patch Attack:</a:t>
            </a:r>
            <a:r>
              <a:rPr b="1" lang="en-US" sz="15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0" i="0" lang="en-US" sz="1500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 Moderate</a:t>
            </a:r>
            <a:r>
              <a:rPr lang="en-US" sz="15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ly effective. </a:t>
            </a:r>
            <a:r>
              <a:rPr b="0" i="0" lang="en-US" sz="15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Our custom </a:t>
            </a:r>
            <a:r>
              <a:rPr i="0" lang="en-US" sz="15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RobustDPatch</a:t>
            </a:r>
            <a:r>
              <a:rPr b="0" i="0" lang="en-US" sz="15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 (white-box) reduced mAP by ~10%, outperforming the black-box hill-climbing approach.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21" name="Google Shape;121;p15"/>
          <p:cNvSpPr txBox="1"/>
          <p:nvPr/>
        </p:nvSpPr>
        <p:spPr>
          <a:xfrm>
            <a:off x="6667500" y="2525017"/>
            <a:ext cx="20193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F87171"/>
                </a:solidFill>
                <a:latin typeface="Inter"/>
                <a:ea typeface="Inter"/>
                <a:cs typeface="Inter"/>
                <a:sym typeface="Inter"/>
              </a:rPr>
              <a:t>-20.5%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6667500" y="3172717"/>
            <a:ext cx="20193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FGSM MAP DROP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9448800" y="2525017"/>
            <a:ext cx="188595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4ADE80"/>
                </a:solidFill>
                <a:latin typeface="Inter"/>
                <a:ea typeface="Inter"/>
                <a:cs typeface="Inter"/>
                <a:sym typeface="Inter"/>
              </a:rPr>
              <a:t>~0%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9448800" y="3172717"/>
            <a:ext cx="18859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1-PX ATTACK DROP</a:t>
            </a:r>
            <a:endParaRPr/>
          </a:p>
        </p:txBody>
      </p:sp>
      <p:sp>
        <p:nvSpPr>
          <p:cNvPr id="125" name="Google Shape;125;p15"/>
          <p:cNvSpPr txBox="1"/>
          <p:nvPr/>
        </p:nvSpPr>
        <p:spPr>
          <a:xfrm>
            <a:off x="6667500" y="4172842"/>
            <a:ext cx="20193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FBBF24"/>
                </a:solidFill>
                <a:latin typeface="Inter"/>
                <a:ea typeface="Inter"/>
                <a:cs typeface="Inter"/>
                <a:sym typeface="Inter"/>
              </a:rPr>
              <a:t>-10.0%</a:t>
            </a:r>
            <a:endParaRPr/>
          </a:p>
        </p:txBody>
      </p:sp>
      <p:sp>
        <p:nvSpPr>
          <p:cNvPr id="126" name="Google Shape;126;p15"/>
          <p:cNvSpPr txBox="1"/>
          <p:nvPr/>
        </p:nvSpPr>
        <p:spPr>
          <a:xfrm>
            <a:off x="6667500" y="4820542"/>
            <a:ext cx="20193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ROBUSTDPATCH DROP</a:t>
            </a:r>
            <a:endParaRPr/>
          </a:p>
        </p:txBody>
      </p:sp>
      <p:sp>
        <p:nvSpPr>
          <p:cNvPr id="127" name="Google Shape;127;p15"/>
          <p:cNvSpPr txBox="1"/>
          <p:nvPr/>
        </p:nvSpPr>
        <p:spPr>
          <a:xfrm>
            <a:off x="9448800" y="4172842"/>
            <a:ext cx="188595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FBBF24"/>
                </a:solidFill>
                <a:latin typeface="Inter"/>
                <a:ea typeface="Inter"/>
                <a:cs typeface="Inter"/>
                <a:sym typeface="Inter"/>
              </a:rPr>
              <a:t>-7.9%</a:t>
            </a:r>
            <a:endParaRPr/>
          </a:p>
        </p:txBody>
      </p:sp>
      <p:sp>
        <p:nvSpPr>
          <p:cNvPr id="128" name="Google Shape;128;p15"/>
          <p:cNvSpPr txBox="1"/>
          <p:nvPr/>
        </p:nvSpPr>
        <p:spPr>
          <a:xfrm>
            <a:off x="9448800" y="4820542"/>
            <a:ext cx="18859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BLACK-BOX PATCH DROP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6"/>
          <p:cNvSpPr txBox="1"/>
          <p:nvPr/>
        </p:nvSpPr>
        <p:spPr>
          <a:xfrm>
            <a:off x="490537" y="2451794"/>
            <a:ext cx="1140142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PART I</a:t>
            </a:r>
            <a:endParaRPr/>
          </a:p>
        </p:txBody>
      </p:sp>
      <p:sp>
        <p:nvSpPr>
          <p:cNvPr id="134" name="Google Shape;134;p16"/>
          <p:cNvSpPr txBox="1"/>
          <p:nvPr/>
        </p:nvSpPr>
        <p:spPr>
          <a:xfrm>
            <a:off x="490537" y="2882205"/>
            <a:ext cx="11401425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White-box FGSM Attack</a:t>
            </a:r>
            <a:endParaRPr/>
          </a:p>
        </p:txBody>
      </p:sp>
      <p:sp>
        <p:nvSpPr>
          <p:cNvPr id="135" name="Google Shape;135;p16"/>
          <p:cNvSpPr txBox="1"/>
          <p:nvPr/>
        </p:nvSpPr>
        <p:spPr>
          <a:xfrm>
            <a:off x="762000" y="3949005"/>
            <a:ext cx="10858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Exploiting Gradient Sensitivity for Maximum Damage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0" name="Google Shape;140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81750" y="1905000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>
            <a:off x="762000" y="476250"/>
            <a:ext cx="7680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FAST GRADIENT SIGN METHOD (FGSM)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42" name="Google Shape;142;p17"/>
          <p:cNvSpPr/>
          <p:nvPr/>
        </p:nvSpPr>
        <p:spPr>
          <a:xfrm>
            <a:off x="571500" y="476250"/>
            <a:ext cx="38100" cy="37713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7"/>
          <p:cNvSpPr txBox="1"/>
          <p:nvPr/>
        </p:nvSpPr>
        <p:spPr>
          <a:xfrm>
            <a:off x="571500" y="1456432"/>
            <a:ext cx="5500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rPr>
              <a:t>The Concept</a:t>
            </a:r>
            <a:endParaRPr>
              <a:solidFill>
                <a:schemeClr val="accent5"/>
              </a:solidFill>
            </a:endParaRPr>
          </a:p>
        </p:txBody>
      </p:sp>
      <p:sp>
        <p:nvSpPr>
          <p:cNvPr id="144" name="Google Shape;144;p17"/>
          <p:cNvSpPr txBox="1"/>
          <p:nvPr/>
        </p:nvSpPr>
        <p:spPr>
          <a:xfrm>
            <a:off x="571500" y="2020192"/>
            <a:ext cx="52389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FGSM is a "single-step" attack that assumes access to the model's gradients (White-box). Instead of minimizing loss, we maximize it.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45" name="Google Shape;145;p17"/>
          <p:cNvSpPr txBox="1"/>
          <p:nvPr/>
        </p:nvSpPr>
        <p:spPr>
          <a:xfrm>
            <a:off x="571438" y="3325192"/>
            <a:ext cx="52389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We calculate the gradient of the loss function with respect to the input image. This tells us exactly which direction to change each pixel to confuse the model.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descr="image.png" id="146" name="Google Shape;146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905000"/>
            <a:ext cx="523875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41807" y="4890054"/>
            <a:ext cx="5396425" cy="552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2" name="Google Shape;15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81750" y="2283767"/>
            <a:ext cx="5238750" cy="30524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3" name="Google Shape;153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67500" y="3171378"/>
            <a:ext cx="4667250" cy="804862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8"/>
          <p:cNvSpPr txBox="1"/>
          <p:nvPr/>
        </p:nvSpPr>
        <p:spPr>
          <a:xfrm>
            <a:off x="762000" y="476250"/>
            <a:ext cx="43905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FGSM METHODOLOGY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55" name="Google Shape;155;p18"/>
          <p:cNvSpPr/>
          <p:nvPr/>
        </p:nvSpPr>
        <p:spPr>
          <a:xfrm>
            <a:off x="571500" y="476250"/>
            <a:ext cx="38100" cy="37713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8"/>
          <p:cNvSpPr txBox="1"/>
          <p:nvPr/>
        </p:nvSpPr>
        <p:spPr>
          <a:xfrm>
            <a:off x="571500" y="1785044"/>
            <a:ext cx="5500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rPr>
              <a:t>Targeting YOLOv9e Components</a:t>
            </a:r>
            <a:endParaRPr>
              <a:solidFill>
                <a:schemeClr val="accent5"/>
              </a:solidFill>
            </a:endParaRPr>
          </a:p>
        </p:txBody>
      </p:sp>
      <p:sp>
        <p:nvSpPr>
          <p:cNvPr id="157" name="Google Shape;157;p18"/>
          <p:cNvSpPr txBox="1"/>
          <p:nvPr/>
        </p:nvSpPr>
        <p:spPr>
          <a:xfrm>
            <a:off x="571500" y="2348805"/>
            <a:ext cx="52389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In YOLOv9e, the loss function </a:t>
            </a:r>
            <a:r>
              <a:rPr b="1" lang="en-US" sz="15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J</a:t>
            </a:r>
            <a:r>
              <a:rPr b="0" i="0" lang="en-US" sz="15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 is a composite of three critical components. Our attack leverages gradients from all three: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58" name="Google Shape;158;p18"/>
          <p:cNvSpPr txBox="1"/>
          <p:nvPr/>
        </p:nvSpPr>
        <p:spPr>
          <a:xfrm>
            <a:off x="466725" y="3548955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59" name="Google Shape;159;p18"/>
          <p:cNvSpPr txBox="1"/>
          <p:nvPr/>
        </p:nvSpPr>
        <p:spPr>
          <a:xfrm>
            <a:off x="571500" y="3548955"/>
            <a:ext cx="52389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Box Regression Loss:</a:t>
            </a:r>
            <a:r>
              <a:rPr b="0" i="0" lang="en-US" sz="15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0" i="0" lang="en-US" sz="15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Disrupts the precise localization of bounding boxes (DFL).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60" name="Google Shape;160;p18"/>
          <p:cNvSpPr txBox="1"/>
          <p:nvPr/>
        </p:nvSpPr>
        <p:spPr>
          <a:xfrm>
            <a:off x="466725" y="4310955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61" name="Google Shape;161;p18"/>
          <p:cNvSpPr txBox="1"/>
          <p:nvPr/>
        </p:nvSpPr>
        <p:spPr>
          <a:xfrm>
            <a:off x="571500" y="4310955"/>
            <a:ext cx="52389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Objectness Loss:</a:t>
            </a:r>
            <a:r>
              <a:rPr b="0" i="0" lang="en-US" sz="15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 T</a:t>
            </a:r>
            <a:r>
              <a:rPr b="0" i="0" lang="en-US" sz="15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argets the model's confidence that an object exists in a specific grid cell.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62" name="Google Shape;162;p18"/>
          <p:cNvSpPr txBox="1"/>
          <p:nvPr/>
        </p:nvSpPr>
        <p:spPr>
          <a:xfrm>
            <a:off x="466725" y="5072955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63" name="Google Shape;163;p18"/>
          <p:cNvSpPr txBox="1"/>
          <p:nvPr/>
        </p:nvSpPr>
        <p:spPr>
          <a:xfrm>
            <a:off x="571500" y="5072955"/>
            <a:ext cx="52389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Classification Loss:</a:t>
            </a:r>
            <a:r>
              <a:rPr b="0" i="0" lang="en-US" sz="15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 Confuses the class prediction (e.g., Plane vs. Ship).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64" name="Google Shape;164;p18"/>
          <p:cNvSpPr txBox="1"/>
          <p:nvPr/>
        </p:nvSpPr>
        <p:spPr>
          <a:xfrm>
            <a:off x="6667500" y="2607617"/>
            <a:ext cx="4900612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818CF8"/>
                </a:solidFill>
                <a:latin typeface="Inter"/>
                <a:ea typeface="Inter"/>
                <a:cs typeface="Inter"/>
                <a:sym typeface="Inter"/>
              </a:rPr>
              <a:t>Mathematical Formulation</a:t>
            </a:r>
            <a:endParaRPr/>
          </a:p>
        </p:txBody>
      </p:sp>
      <p:sp>
        <p:nvSpPr>
          <p:cNvPr id="165" name="Google Shape;165;p18"/>
          <p:cNvSpPr txBox="1"/>
          <p:nvPr/>
        </p:nvSpPr>
        <p:spPr>
          <a:xfrm>
            <a:off x="6667500" y="4166741"/>
            <a:ext cx="4667400" cy="8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Where x is the clean image, y</a:t>
            </a:r>
            <a:r>
              <a:rPr lang="en-US" sz="1300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0" i="0" lang="en-US" sz="1300" u="none" cap="none" strike="noStrik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is the ground truth label, theta represents model parameters, and epsilon</a:t>
            </a:r>
            <a:r>
              <a:rPr lang="en-US" sz="1300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 i</a:t>
            </a:r>
            <a:r>
              <a:rPr b="0" i="0" lang="en-US" sz="1300" u="none" cap="none" strike="noStrik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i</a:t>
            </a:r>
            <a:r>
              <a:rPr b="0" i="0" lang="en-US" sz="1300" u="none" cap="none" strike="noStrik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s the perturbation magnitude.</a:t>
            </a:r>
            <a:endParaRPr sz="1500">
              <a:solidFill>
                <a:srgbClr val="F1F5F9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9"/>
          <p:cNvSpPr txBox="1"/>
          <p:nvPr/>
        </p:nvSpPr>
        <p:spPr>
          <a:xfrm>
            <a:off x="762000" y="476250"/>
            <a:ext cx="54507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IMPLEMENTATION PIPELINE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71" name="Google Shape;171;p19"/>
          <p:cNvSpPr/>
          <p:nvPr/>
        </p:nvSpPr>
        <p:spPr>
          <a:xfrm>
            <a:off x="571500" y="476250"/>
            <a:ext cx="38100" cy="37713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9"/>
          <p:cNvSpPr txBox="1"/>
          <p:nvPr/>
        </p:nvSpPr>
        <p:spPr>
          <a:xfrm>
            <a:off x="7086595" y="842671"/>
            <a:ext cx="3738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rPr>
              <a:t>Step-by-Step Execution</a:t>
            </a:r>
            <a:endParaRPr>
              <a:solidFill>
                <a:schemeClr val="accent5"/>
              </a:solidFill>
            </a:endParaRPr>
          </a:p>
        </p:txBody>
      </p:sp>
      <p:sp>
        <p:nvSpPr>
          <p:cNvPr id="173" name="Google Shape;173;p19"/>
          <p:cNvSpPr txBox="1"/>
          <p:nvPr/>
        </p:nvSpPr>
        <p:spPr>
          <a:xfrm>
            <a:off x="6343461" y="1583674"/>
            <a:ext cx="1335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1.</a:t>
            </a:r>
            <a:endParaRPr/>
          </a:p>
        </p:txBody>
      </p:sp>
      <p:sp>
        <p:nvSpPr>
          <p:cNvPr id="174" name="Google Shape;174;p19"/>
          <p:cNvSpPr txBox="1"/>
          <p:nvPr/>
        </p:nvSpPr>
        <p:spPr>
          <a:xfrm>
            <a:off x="6476811" y="1583674"/>
            <a:ext cx="50484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333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Load Model:</a:t>
            </a:r>
            <a:r>
              <a:rPr b="0" i="0" lang="en-US" sz="15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 Initialize pretrained YOLOv9e.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75" name="Google Shape;175;p19"/>
          <p:cNvSpPr txBox="1"/>
          <p:nvPr/>
        </p:nvSpPr>
        <p:spPr>
          <a:xfrm>
            <a:off x="6305361" y="2078974"/>
            <a:ext cx="1716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2.</a:t>
            </a:r>
            <a:endParaRPr/>
          </a:p>
        </p:txBody>
      </p:sp>
      <p:sp>
        <p:nvSpPr>
          <p:cNvPr id="176" name="Google Shape;176;p19"/>
          <p:cNvSpPr txBox="1"/>
          <p:nvPr/>
        </p:nvSpPr>
        <p:spPr>
          <a:xfrm>
            <a:off x="6476811" y="2078974"/>
            <a:ext cx="50484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714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Preprocessing:</a:t>
            </a:r>
            <a:r>
              <a:rPr b="0" i="0" lang="en-US" sz="15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 Normalize input image and enable requires_grad.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77" name="Google Shape;177;p19"/>
          <p:cNvSpPr txBox="1"/>
          <p:nvPr/>
        </p:nvSpPr>
        <p:spPr>
          <a:xfrm>
            <a:off x="6305361" y="2888599"/>
            <a:ext cx="1716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3.</a:t>
            </a:r>
            <a:endParaRPr/>
          </a:p>
        </p:txBody>
      </p:sp>
      <p:sp>
        <p:nvSpPr>
          <p:cNvPr id="178" name="Google Shape;178;p19"/>
          <p:cNvSpPr txBox="1"/>
          <p:nvPr/>
        </p:nvSpPr>
        <p:spPr>
          <a:xfrm>
            <a:off x="6476811" y="2888599"/>
            <a:ext cx="50484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714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Loss Computation:</a:t>
            </a:r>
            <a:r>
              <a:rPr b="0" i="0" lang="en-US" sz="15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 Perform forward pass to compute total loss (Box + Obj + Cls).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79" name="Google Shape;179;p19"/>
          <p:cNvSpPr txBox="1"/>
          <p:nvPr/>
        </p:nvSpPr>
        <p:spPr>
          <a:xfrm>
            <a:off x="6305361" y="3688699"/>
            <a:ext cx="1716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4.</a:t>
            </a:r>
            <a:endParaRPr/>
          </a:p>
        </p:txBody>
      </p:sp>
      <p:sp>
        <p:nvSpPr>
          <p:cNvPr id="180" name="Google Shape;180;p19"/>
          <p:cNvSpPr txBox="1"/>
          <p:nvPr/>
        </p:nvSpPr>
        <p:spPr>
          <a:xfrm>
            <a:off x="6476811" y="3688699"/>
            <a:ext cx="50484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714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Gradient Extraction:</a:t>
            </a:r>
            <a:r>
              <a:rPr b="0" i="0" lang="en-US" sz="15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 Backpropagate to find </a:t>
            </a:r>
            <a:r>
              <a:rPr lang="en-US" sz="15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J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81" name="Google Shape;181;p19"/>
          <p:cNvSpPr txBox="1"/>
          <p:nvPr/>
        </p:nvSpPr>
        <p:spPr>
          <a:xfrm>
            <a:off x="6314886" y="4488799"/>
            <a:ext cx="162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5.</a:t>
            </a:r>
            <a:endParaRPr/>
          </a:p>
        </p:txBody>
      </p:sp>
      <p:sp>
        <p:nvSpPr>
          <p:cNvPr id="182" name="Google Shape;182;p19"/>
          <p:cNvSpPr txBox="1"/>
          <p:nvPr/>
        </p:nvSpPr>
        <p:spPr>
          <a:xfrm>
            <a:off x="6476811" y="4488799"/>
            <a:ext cx="50484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6192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Perturbation:</a:t>
            </a:r>
            <a:r>
              <a:rPr b="0" i="0" lang="en-US" sz="15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 Apply the sign of the gradient scaled by epsilon.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83" name="Google Shape;183;p19"/>
          <p:cNvSpPr txBox="1"/>
          <p:nvPr/>
        </p:nvSpPr>
        <p:spPr>
          <a:xfrm>
            <a:off x="6314886" y="5288899"/>
            <a:ext cx="162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6.</a:t>
            </a:r>
            <a:endParaRPr/>
          </a:p>
        </p:txBody>
      </p:sp>
      <p:sp>
        <p:nvSpPr>
          <p:cNvPr id="184" name="Google Shape;184;p19"/>
          <p:cNvSpPr txBox="1"/>
          <p:nvPr/>
        </p:nvSpPr>
        <p:spPr>
          <a:xfrm>
            <a:off x="6476811" y="5288899"/>
            <a:ext cx="50484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6192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Validation:</a:t>
            </a:r>
            <a:r>
              <a:rPr b="0" i="0" lang="en-US" sz="15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 The resulting adversarial dataset mirrors the clean validation set structure for direct comparison.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85" name="Google Shape;185;p19"/>
          <p:cNvSpPr txBox="1"/>
          <p:nvPr/>
        </p:nvSpPr>
        <p:spPr>
          <a:xfrm>
            <a:off x="884275" y="1483600"/>
            <a:ext cx="4588500" cy="4382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50">
              <a:solidFill>
                <a:srgbClr val="61AFEF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200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1. Setup</a:t>
            </a:r>
            <a:endParaRPr sz="1200">
              <a:solidFill>
                <a:srgbClr val="E2E8F0"/>
              </a:solidFill>
              <a:highlight>
                <a:srgbClr val="020617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E2E8F0"/>
                </a:solidFill>
                <a:highlight>
                  <a:srgbClr val="020617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model.train()  </a:t>
            </a:r>
            <a:r>
              <a:rPr i="1" lang="en-US" sz="1200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Enable gradient tracking</a:t>
            </a:r>
            <a:endParaRPr sz="1200">
              <a:solidFill>
                <a:srgbClr val="E2E8F0"/>
              </a:solidFill>
              <a:highlight>
                <a:srgbClr val="020617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E2E8F0"/>
                </a:solidFill>
                <a:highlight>
                  <a:srgbClr val="020617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img.requires_grad = </a:t>
            </a:r>
            <a:r>
              <a:rPr lang="en-US" sz="1200">
                <a:solidFill>
                  <a:srgbClr val="C084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True</a:t>
            </a:r>
            <a:endParaRPr sz="1200">
              <a:solidFill>
                <a:srgbClr val="E2E8F0"/>
              </a:solidFill>
              <a:highlight>
                <a:srgbClr val="020617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E2E8F0"/>
              </a:solidFill>
              <a:highlight>
                <a:srgbClr val="020617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200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2. Forward Pass</a:t>
            </a:r>
            <a:endParaRPr sz="1200">
              <a:solidFill>
                <a:srgbClr val="E2E8F0"/>
              </a:solidFill>
              <a:highlight>
                <a:srgbClr val="020617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E2E8F0"/>
                </a:solidFill>
                <a:highlight>
                  <a:srgbClr val="020617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preds = model(img)</a:t>
            </a:r>
            <a:endParaRPr sz="1200">
              <a:solidFill>
                <a:srgbClr val="E2E8F0"/>
              </a:solidFill>
              <a:highlight>
                <a:srgbClr val="020617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E2E8F0"/>
                </a:solidFill>
                <a:highlight>
                  <a:srgbClr val="020617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loss, loss_items = compute_loss(preds, targets)</a:t>
            </a:r>
            <a:endParaRPr sz="1200">
              <a:solidFill>
                <a:srgbClr val="E2E8F0"/>
              </a:solidFill>
              <a:highlight>
                <a:srgbClr val="020617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E2E8F0"/>
              </a:solidFill>
              <a:highlight>
                <a:srgbClr val="020617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200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3. Backward Pass</a:t>
            </a:r>
            <a:endParaRPr sz="1200">
              <a:solidFill>
                <a:srgbClr val="E2E8F0"/>
              </a:solidFill>
              <a:highlight>
                <a:srgbClr val="020617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E2E8F0"/>
                </a:solidFill>
                <a:highlight>
                  <a:srgbClr val="020617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loss.backward()</a:t>
            </a:r>
            <a:endParaRPr sz="1200">
              <a:solidFill>
                <a:srgbClr val="E2E8F0"/>
              </a:solidFill>
              <a:highlight>
                <a:srgbClr val="020617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E2E8F0"/>
              </a:solidFill>
              <a:highlight>
                <a:srgbClr val="020617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200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4. Generate Perturbation</a:t>
            </a:r>
            <a:endParaRPr sz="1200">
              <a:solidFill>
                <a:srgbClr val="E2E8F0"/>
              </a:solidFill>
              <a:highlight>
                <a:srgbClr val="020617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E2E8F0"/>
                </a:solidFill>
                <a:highlight>
                  <a:srgbClr val="020617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data_grad = img.grad.data</a:t>
            </a:r>
            <a:endParaRPr sz="1200">
              <a:solidFill>
                <a:srgbClr val="E2E8F0"/>
              </a:solidFill>
              <a:highlight>
                <a:srgbClr val="020617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E2E8F0"/>
                </a:solidFill>
                <a:highlight>
                  <a:srgbClr val="020617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perturbed_img = fgsm_attack(img, epsilon, data_grad)</a:t>
            </a:r>
            <a:endParaRPr sz="1200">
              <a:solidFill>
                <a:srgbClr val="E2E8F0"/>
              </a:solidFill>
              <a:highlight>
                <a:srgbClr val="020617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E2E8F0"/>
              </a:solidFill>
              <a:highlight>
                <a:srgbClr val="020617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200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5. Clamp &amp; Save</a:t>
            </a:r>
            <a:endParaRPr sz="1200">
              <a:solidFill>
                <a:srgbClr val="E2E8F0"/>
              </a:solidFill>
              <a:highlight>
                <a:srgbClr val="020617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E2E8F0"/>
                </a:solidFill>
                <a:highlight>
                  <a:srgbClr val="020617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final_adv_img = torch.clamp(perturbed_img, 0, 1)</a:t>
            </a:r>
            <a:endParaRPr sz="1200">
              <a:solidFill>
                <a:srgbClr val="E2E8F0"/>
              </a:solidFill>
              <a:highlight>
                <a:srgbClr val="020617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>
                <a:solidFill>
                  <a:srgbClr val="E2E8F0"/>
                </a:solidFill>
                <a:highlight>
                  <a:srgbClr val="020617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save_image(final_adv_img, </a:t>
            </a:r>
            <a:r>
              <a:rPr lang="en-US" sz="1200">
                <a:solidFill>
                  <a:srgbClr val="A3E63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"adv_val_set/"</a:t>
            </a:r>
            <a:r>
              <a:rPr lang="en-US" sz="1200">
                <a:solidFill>
                  <a:srgbClr val="E2E8F0"/>
                </a:solidFill>
                <a:highlight>
                  <a:srgbClr val="020617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)</a:t>
            </a:r>
            <a:endParaRPr sz="1200">
              <a:solidFill>
                <a:srgbClr val="E2E8F0"/>
              </a:solidFill>
              <a:highlight>
                <a:srgbClr val="020617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61AFEF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0" name="Google Shape;190;p20"/>
          <p:cNvPicPr preferRelativeResize="0"/>
          <p:nvPr/>
        </p:nvPicPr>
        <p:blipFill rotWithShape="1">
          <a:blip r:embed="rId3">
            <a:alphaModFix/>
          </a:blip>
          <a:srcRect b="0" l="51714" r="0" t="0"/>
          <a:stretch/>
        </p:blipFill>
        <p:spPr>
          <a:xfrm>
            <a:off x="463575" y="1466850"/>
            <a:ext cx="5335124" cy="4953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1" name="Google Shape;191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90824" y="3863280"/>
            <a:ext cx="5238750" cy="165735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20"/>
          <p:cNvSpPr txBox="1"/>
          <p:nvPr/>
        </p:nvSpPr>
        <p:spPr>
          <a:xfrm>
            <a:off x="762000" y="476250"/>
            <a:ext cx="49206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FGSM IMPACT ANALYSIS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93" name="Google Shape;193;p20"/>
          <p:cNvSpPr/>
          <p:nvPr/>
        </p:nvSpPr>
        <p:spPr>
          <a:xfrm>
            <a:off x="571500" y="476250"/>
            <a:ext cx="38100" cy="37713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20"/>
          <p:cNvSpPr txBox="1"/>
          <p:nvPr/>
        </p:nvSpPr>
        <p:spPr>
          <a:xfrm>
            <a:off x="6490824" y="2099369"/>
            <a:ext cx="5500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818CF8"/>
                </a:solidFill>
                <a:latin typeface="Inter"/>
                <a:ea typeface="Inter"/>
                <a:cs typeface="Inter"/>
                <a:sym typeface="Inter"/>
              </a:rPr>
              <a:t>Decent Failure</a:t>
            </a:r>
            <a:endParaRPr/>
          </a:p>
        </p:txBody>
      </p:sp>
      <p:sp>
        <p:nvSpPr>
          <p:cNvPr id="195" name="Google Shape;195;p20"/>
          <p:cNvSpPr txBox="1"/>
          <p:nvPr/>
        </p:nvSpPr>
        <p:spPr>
          <a:xfrm>
            <a:off x="6490824" y="2663130"/>
            <a:ext cx="52389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The white-box attack was </a:t>
            </a:r>
            <a:r>
              <a:rPr lang="en-US" sz="15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considerably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effective. The </a:t>
            </a:r>
            <a:r>
              <a:rPr b="1" i="0" lang="en-US" sz="1500" u="none" cap="none" strike="noStrike">
                <a:solidFill>
                  <a:srgbClr val="F87171"/>
                </a:solidFill>
                <a:latin typeface="Inter"/>
                <a:ea typeface="Inter"/>
                <a:cs typeface="Inter"/>
                <a:sym typeface="Inter"/>
              </a:rPr>
              <a:t>21.3% drop in Recall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indicates that the attack successfully "hid" many objects from the detector.</a:t>
            </a:r>
            <a:endParaRPr/>
          </a:p>
        </p:txBody>
      </p:sp>
      <p:sp>
        <p:nvSpPr>
          <p:cNvPr id="196" name="Google Shape;196;p20"/>
          <p:cNvSpPr txBox="1"/>
          <p:nvPr/>
        </p:nvSpPr>
        <p:spPr>
          <a:xfrm>
            <a:off x="6776574" y="4187130"/>
            <a:ext cx="46674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Performance Drop (mAP@0.50)</a:t>
            </a:r>
            <a:endParaRPr/>
          </a:p>
        </p:txBody>
      </p:sp>
      <p:sp>
        <p:nvSpPr>
          <p:cNvPr id="197" name="Google Shape;197;p20"/>
          <p:cNvSpPr txBox="1"/>
          <p:nvPr/>
        </p:nvSpPr>
        <p:spPr>
          <a:xfrm>
            <a:off x="6776574" y="4587180"/>
            <a:ext cx="4667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F87171"/>
                </a:solidFill>
                <a:latin typeface="Inter"/>
                <a:ea typeface="Inter"/>
                <a:cs typeface="Inter"/>
                <a:sym typeface="Inter"/>
              </a:rPr>
              <a:t>-20.59%</a:t>
            </a:r>
            <a:endParaRPr/>
          </a:p>
        </p:txBody>
      </p:sp>
      <p:pic>
        <p:nvPicPr>
          <p:cNvPr id="198" name="Google Shape;198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637475" y="3111267"/>
            <a:ext cx="3434375" cy="30391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637475" y="1653232"/>
            <a:ext cx="3434375" cy="14061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1"/>
          <p:cNvSpPr txBox="1"/>
          <p:nvPr/>
        </p:nvSpPr>
        <p:spPr>
          <a:xfrm>
            <a:off x="490537" y="2451794"/>
            <a:ext cx="1140142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PART II</a:t>
            </a:r>
            <a:endParaRPr/>
          </a:p>
        </p:txBody>
      </p:sp>
      <p:sp>
        <p:nvSpPr>
          <p:cNvPr id="205" name="Google Shape;205;p21"/>
          <p:cNvSpPr txBox="1"/>
          <p:nvPr/>
        </p:nvSpPr>
        <p:spPr>
          <a:xfrm>
            <a:off x="490537" y="2882205"/>
            <a:ext cx="11401425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Black-box Pixel Attacks</a:t>
            </a:r>
            <a:endParaRPr/>
          </a:p>
        </p:txBody>
      </p:sp>
      <p:sp>
        <p:nvSpPr>
          <p:cNvPr id="206" name="Google Shape;206;p21"/>
          <p:cNvSpPr txBox="1"/>
          <p:nvPr/>
        </p:nvSpPr>
        <p:spPr>
          <a:xfrm>
            <a:off x="762000" y="3949005"/>
            <a:ext cx="10858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Testing Robustness Against Sparse Perturbations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2"/>
          <p:cNvSpPr txBox="1"/>
          <p:nvPr/>
        </p:nvSpPr>
        <p:spPr>
          <a:xfrm>
            <a:off x="762000" y="476250"/>
            <a:ext cx="8091011" cy="377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METHOD 1: ONE-PIXEL RANDOM SEARCH</a:t>
            </a:r>
            <a:endParaRPr/>
          </a:p>
        </p:txBody>
      </p:sp>
      <p:sp>
        <p:nvSpPr>
          <p:cNvPr id="212" name="Google Shape;212;p22"/>
          <p:cNvSpPr/>
          <p:nvPr/>
        </p:nvSpPr>
        <p:spPr>
          <a:xfrm>
            <a:off x="571500" y="476250"/>
            <a:ext cx="38100" cy="37713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2"/>
          <p:cNvSpPr txBox="1"/>
          <p:nvPr/>
        </p:nvSpPr>
        <p:spPr>
          <a:xfrm>
            <a:off x="571500" y="1470719"/>
            <a:ext cx="5500687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818CF8"/>
                </a:solidFill>
                <a:latin typeface="Inter"/>
                <a:ea typeface="Inter"/>
                <a:cs typeface="Inter"/>
                <a:sym typeface="Inter"/>
              </a:rPr>
              <a:t>Brute Force Simplicity</a:t>
            </a:r>
            <a:endParaRPr/>
          </a:p>
        </p:txBody>
      </p:sp>
      <p:sp>
        <p:nvSpPr>
          <p:cNvPr id="214" name="Google Shape;214;p22"/>
          <p:cNvSpPr txBox="1"/>
          <p:nvPr/>
        </p:nvSpPr>
        <p:spPr>
          <a:xfrm>
            <a:off x="571500" y="2034480"/>
            <a:ext cx="5238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Goal: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Find the single most disruptive pixel (location + color) to lower the model's confidence.</a:t>
            </a:r>
            <a:endParaRPr/>
          </a:p>
        </p:txBody>
      </p:sp>
      <p:sp>
        <p:nvSpPr>
          <p:cNvPr id="215" name="Google Shape;215;p22"/>
          <p:cNvSpPr txBox="1"/>
          <p:nvPr/>
        </p:nvSpPr>
        <p:spPr>
          <a:xfrm>
            <a:off x="571500" y="2796480"/>
            <a:ext cx="5238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Algorithm:</a:t>
            </a:r>
            <a:endParaRPr/>
          </a:p>
        </p:txBody>
      </p:sp>
      <p:sp>
        <p:nvSpPr>
          <p:cNvPr id="216" name="Google Shape;216;p22"/>
          <p:cNvSpPr txBox="1"/>
          <p:nvPr/>
        </p:nvSpPr>
        <p:spPr>
          <a:xfrm>
            <a:off x="466725" y="3253680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17" name="Google Shape;217;p22"/>
          <p:cNvSpPr txBox="1"/>
          <p:nvPr/>
        </p:nvSpPr>
        <p:spPr>
          <a:xfrm>
            <a:off x="571500" y="3253680"/>
            <a:ext cx="5238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Loop 30 attempts per image.</a:t>
            </a:r>
            <a:endParaRPr/>
          </a:p>
        </p:txBody>
      </p:sp>
      <p:sp>
        <p:nvSpPr>
          <p:cNvPr id="218" name="Google Shape;218;p22"/>
          <p:cNvSpPr txBox="1"/>
          <p:nvPr/>
        </p:nvSpPr>
        <p:spPr>
          <a:xfrm>
            <a:off x="466725" y="3710880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19" name="Google Shape;219;p22"/>
          <p:cNvSpPr txBox="1"/>
          <p:nvPr/>
        </p:nvSpPr>
        <p:spPr>
          <a:xfrm>
            <a:off x="571500" y="3710880"/>
            <a:ext cx="5238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Pick a random coordinate $(x, y)$.</a:t>
            </a:r>
            <a:endParaRPr/>
          </a:p>
        </p:txBody>
      </p:sp>
      <p:sp>
        <p:nvSpPr>
          <p:cNvPr id="220" name="Google Shape;220;p22"/>
          <p:cNvSpPr txBox="1"/>
          <p:nvPr/>
        </p:nvSpPr>
        <p:spPr>
          <a:xfrm>
            <a:off x="466725" y="4168080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21" name="Google Shape;221;p22"/>
          <p:cNvSpPr txBox="1"/>
          <p:nvPr/>
        </p:nvSpPr>
        <p:spPr>
          <a:xfrm>
            <a:off x="571500" y="4168080"/>
            <a:ext cx="5238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Test 4 variations: Invert color, Black (0,0,0), White (255,255,255), Random RGB.</a:t>
            </a:r>
            <a:endParaRPr/>
          </a:p>
        </p:txBody>
      </p:sp>
      <p:sp>
        <p:nvSpPr>
          <p:cNvPr id="222" name="Google Shape;222;p22"/>
          <p:cNvSpPr txBox="1"/>
          <p:nvPr/>
        </p:nvSpPr>
        <p:spPr>
          <a:xfrm>
            <a:off x="466725" y="4930080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23" name="Google Shape;223;p22"/>
          <p:cNvSpPr txBox="1"/>
          <p:nvPr/>
        </p:nvSpPr>
        <p:spPr>
          <a:xfrm>
            <a:off x="571500" y="4930080"/>
            <a:ext cx="5238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Query the model (Black-box) and record the confidence score.</a:t>
            </a:r>
            <a:endParaRPr/>
          </a:p>
        </p:txBody>
      </p:sp>
      <p:sp>
        <p:nvSpPr>
          <p:cNvPr id="224" name="Google Shape;224;p22"/>
          <p:cNvSpPr txBox="1"/>
          <p:nvPr/>
        </p:nvSpPr>
        <p:spPr>
          <a:xfrm>
            <a:off x="466725" y="5692080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25" name="Google Shape;225;p22"/>
          <p:cNvSpPr txBox="1"/>
          <p:nvPr/>
        </p:nvSpPr>
        <p:spPr>
          <a:xfrm>
            <a:off x="571500" y="5692080"/>
            <a:ext cx="5238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Keep the perturbation that minimizes the score.</a:t>
            </a:r>
            <a:endParaRPr/>
          </a:p>
        </p:txBody>
      </p:sp>
      <p:sp>
        <p:nvSpPr>
          <p:cNvPr id="226" name="Google Shape;226;p22"/>
          <p:cNvSpPr txBox="1"/>
          <p:nvPr/>
        </p:nvSpPr>
        <p:spPr>
          <a:xfrm>
            <a:off x="6700800" y="1640800"/>
            <a:ext cx="5238600" cy="4146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for _ in range(30):</a:t>
            </a:r>
            <a:endParaRPr sz="15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x, y = get_random_coords()</a:t>
            </a:r>
            <a:endParaRPr sz="15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endParaRPr sz="15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# Test variations</a:t>
            </a:r>
            <a:endParaRPr sz="15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candidates = [</a:t>
            </a:r>
            <a:endParaRPr sz="15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    invert_pixel(img, x, y),</a:t>
            </a:r>
            <a:endParaRPr sz="15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    set_pixel(img, x, y, (0,0,0)),</a:t>
            </a:r>
            <a:endParaRPr sz="15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    set_pixel(img, x, y, (255,255,255)),</a:t>
            </a:r>
            <a:endParaRPr sz="15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    set_pixel_random(img, x, y)</a:t>
            </a:r>
            <a:endParaRPr sz="15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]</a:t>
            </a:r>
            <a:endParaRPr sz="15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</a:t>
            </a:r>
            <a:endParaRPr sz="15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for cand in candidates:</a:t>
            </a:r>
            <a:endParaRPr sz="15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    score = query_model(cand)</a:t>
            </a:r>
            <a:endParaRPr sz="15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    if score &lt; best_score:</a:t>
            </a:r>
            <a:endParaRPr sz="15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best_img = cand</a:t>
            </a:r>
            <a:endParaRPr sz="1500">
              <a:solidFill>
                <a:schemeClr val="lt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1" name="Google Shape;23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81750" y="1905000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23"/>
          <p:cNvSpPr txBox="1"/>
          <p:nvPr/>
        </p:nvSpPr>
        <p:spPr>
          <a:xfrm>
            <a:off x="762000" y="476250"/>
            <a:ext cx="9821227" cy="377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METHOD 2: ONE-PIXEL DIFFERENTIAL EVOLUTION</a:t>
            </a:r>
            <a:endParaRPr/>
          </a:p>
        </p:txBody>
      </p:sp>
      <p:sp>
        <p:nvSpPr>
          <p:cNvPr id="233" name="Google Shape;233;p23"/>
          <p:cNvSpPr/>
          <p:nvPr/>
        </p:nvSpPr>
        <p:spPr>
          <a:xfrm>
            <a:off x="571500" y="476250"/>
            <a:ext cx="38100" cy="37713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3"/>
          <p:cNvSpPr txBox="1"/>
          <p:nvPr/>
        </p:nvSpPr>
        <p:spPr>
          <a:xfrm>
            <a:off x="571500" y="1604069"/>
            <a:ext cx="5500687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818CF8"/>
                </a:solidFill>
                <a:latin typeface="Inter"/>
                <a:ea typeface="Inter"/>
                <a:cs typeface="Inter"/>
                <a:sym typeface="Inter"/>
              </a:rPr>
              <a:t>Intelligent Search</a:t>
            </a:r>
            <a:endParaRPr/>
          </a:p>
        </p:txBody>
      </p:sp>
      <p:sp>
        <p:nvSpPr>
          <p:cNvPr id="235" name="Google Shape;235;p23"/>
          <p:cNvSpPr txBox="1"/>
          <p:nvPr/>
        </p:nvSpPr>
        <p:spPr>
          <a:xfrm>
            <a:off x="571500" y="2167830"/>
            <a:ext cx="52387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Instead of random guessing, we use </a:t>
            </a:r>
            <a:r>
              <a:rPr b="1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Differential Evolution (DE)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, an evolutionary algorithm, to optimize the 5-dimensional attack vector:</a:t>
            </a:r>
            <a:endParaRPr/>
          </a:p>
        </p:txBody>
      </p:sp>
      <p:sp>
        <p:nvSpPr>
          <p:cNvPr id="236" name="Google Shape;236;p23"/>
          <p:cNvSpPr/>
          <p:nvPr/>
        </p:nvSpPr>
        <p:spPr>
          <a:xfrm>
            <a:off x="571500" y="3234630"/>
            <a:ext cx="5238750" cy="495300"/>
          </a:xfrm>
          <a:prstGeom prst="roundRect">
            <a:avLst>
              <a:gd fmla="val 11538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3"/>
          <p:cNvSpPr txBox="1"/>
          <p:nvPr/>
        </p:nvSpPr>
        <p:spPr>
          <a:xfrm>
            <a:off x="666750" y="3329880"/>
            <a:ext cx="50482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818CF8"/>
                </a:solidFill>
                <a:latin typeface="Arial"/>
                <a:ea typeface="Arial"/>
                <a:cs typeface="Arial"/>
                <a:sym typeface="Arial"/>
              </a:rPr>
              <a:t>Vector = (x, y, R, G, B)</a:t>
            </a:r>
            <a:endParaRPr/>
          </a:p>
        </p:txBody>
      </p:sp>
      <p:sp>
        <p:nvSpPr>
          <p:cNvPr id="238" name="Google Shape;238;p23"/>
          <p:cNvSpPr txBox="1"/>
          <p:nvPr/>
        </p:nvSpPr>
        <p:spPr>
          <a:xfrm>
            <a:off x="571500" y="3882330"/>
            <a:ext cx="5238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Process:</a:t>
            </a:r>
            <a:endParaRPr/>
          </a:p>
        </p:txBody>
      </p:sp>
      <p:pic>
        <p:nvPicPr>
          <p:cNvPr descr="image.png" id="239" name="Google Shape;239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905000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23"/>
          <p:cNvSpPr txBox="1"/>
          <p:nvPr/>
        </p:nvSpPr>
        <p:spPr>
          <a:xfrm>
            <a:off x="438150" y="4339530"/>
            <a:ext cx="1333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1.</a:t>
            </a:r>
            <a:endParaRPr/>
          </a:p>
        </p:txBody>
      </p:sp>
      <p:sp>
        <p:nvSpPr>
          <p:cNvPr id="241" name="Google Shape;241;p23"/>
          <p:cNvSpPr txBox="1"/>
          <p:nvPr/>
        </p:nvSpPr>
        <p:spPr>
          <a:xfrm>
            <a:off x="571500" y="4339530"/>
            <a:ext cx="5238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333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Initialize population of 10 random pixels.</a:t>
            </a:r>
            <a:endParaRPr/>
          </a:p>
        </p:txBody>
      </p:sp>
      <p:sp>
        <p:nvSpPr>
          <p:cNvPr id="242" name="Google Shape;242;p23"/>
          <p:cNvSpPr txBox="1"/>
          <p:nvPr/>
        </p:nvSpPr>
        <p:spPr>
          <a:xfrm>
            <a:off x="400050" y="4796730"/>
            <a:ext cx="1714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2.</a:t>
            </a:r>
            <a:endParaRPr/>
          </a:p>
        </p:txBody>
      </p:sp>
      <p:sp>
        <p:nvSpPr>
          <p:cNvPr id="243" name="Google Shape;243;p23"/>
          <p:cNvSpPr txBox="1"/>
          <p:nvPr/>
        </p:nvSpPr>
        <p:spPr>
          <a:xfrm>
            <a:off x="571500" y="4796730"/>
            <a:ext cx="5238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714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Evolve for 25 generations.</a:t>
            </a:r>
            <a:endParaRPr/>
          </a:p>
        </p:txBody>
      </p:sp>
      <p:sp>
        <p:nvSpPr>
          <p:cNvPr id="244" name="Google Shape;244;p23"/>
          <p:cNvSpPr txBox="1"/>
          <p:nvPr/>
        </p:nvSpPr>
        <p:spPr>
          <a:xfrm>
            <a:off x="400050" y="5253930"/>
            <a:ext cx="1714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3.</a:t>
            </a:r>
            <a:endParaRPr/>
          </a:p>
        </p:txBody>
      </p:sp>
      <p:sp>
        <p:nvSpPr>
          <p:cNvPr id="245" name="Google Shape;245;p23"/>
          <p:cNvSpPr txBox="1"/>
          <p:nvPr/>
        </p:nvSpPr>
        <p:spPr>
          <a:xfrm>
            <a:off x="571500" y="5253930"/>
            <a:ext cx="5238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714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Mutate/Crossover successful candidates to find the "fittest" (most damaging) pixel.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0" name="Google Shape;250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81750" y="2438400"/>
            <a:ext cx="5238750" cy="32117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1" name="Google Shape;251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421260"/>
            <a:ext cx="5238750" cy="1162050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4"/>
          <p:cNvSpPr txBox="1"/>
          <p:nvPr/>
        </p:nvSpPr>
        <p:spPr>
          <a:xfrm>
            <a:off x="762000" y="476250"/>
            <a:ext cx="5600700" cy="377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METHOD 3: THREE-PIXEL DE</a:t>
            </a:r>
            <a:endParaRPr/>
          </a:p>
        </p:txBody>
      </p:sp>
      <p:sp>
        <p:nvSpPr>
          <p:cNvPr id="253" name="Google Shape;253;p24"/>
          <p:cNvSpPr/>
          <p:nvPr/>
        </p:nvSpPr>
        <p:spPr>
          <a:xfrm>
            <a:off x="571500" y="476250"/>
            <a:ext cx="38100" cy="37713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4"/>
          <p:cNvSpPr txBox="1"/>
          <p:nvPr/>
        </p:nvSpPr>
        <p:spPr>
          <a:xfrm>
            <a:off x="571500" y="1333500"/>
            <a:ext cx="5500687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818CF8"/>
                </a:solidFill>
                <a:latin typeface="Inter"/>
                <a:ea typeface="Inter"/>
                <a:cs typeface="Inter"/>
                <a:sym typeface="Inter"/>
              </a:rPr>
              <a:t>Escalating the Attack</a:t>
            </a:r>
            <a:endParaRPr/>
          </a:p>
        </p:txBody>
      </p:sp>
      <p:sp>
        <p:nvSpPr>
          <p:cNvPr id="255" name="Google Shape;255;p24"/>
          <p:cNvSpPr txBox="1"/>
          <p:nvPr/>
        </p:nvSpPr>
        <p:spPr>
          <a:xfrm>
            <a:off x="571500" y="1897260"/>
            <a:ext cx="52387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We expanded the search space to modify </a:t>
            </a:r>
            <a:r>
              <a:rPr b="1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3 pixels simultaneously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. This theoretically increases the attack surface significantly.</a:t>
            </a:r>
            <a:endParaRPr/>
          </a:p>
        </p:txBody>
      </p:sp>
      <p:sp>
        <p:nvSpPr>
          <p:cNvPr id="256" name="Google Shape;256;p24"/>
          <p:cNvSpPr txBox="1"/>
          <p:nvPr/>
        </p:nvSpPr>
        <p:spPr>
          <a:xfrm>
            <a:off x="571500" y="2964060"/>
            <a:ext cx="5238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The Vector (15 Dimensions):</a:t>
            </a:r>
            <a:endParaRPr/>
          </a:p>
        </p:txBody>
      </p:sp>
      <p:sp>
        <p:nvSpPr>
          <p:cNvPr id="257" name="Google Shape;257;p24"/>
          <p:cNvSpPr txBox="1"/>
          <p:nvPr/>
        </p:nvSpPr>
        <p:spPr>
          <a:xfrm>
            <a:off x="571500" y="4773810"/>
            <a:ext cx="5238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Constraints:</a:t>
            </a:r>
            <a:endParaRPr/>
          </a:p>
        </p:txBody>
      </p:sp>
      <p:sp>
        <p:nvSpPr>
          <p:cNvPr id="258" name="Google Shape;258;p24"/>
          <p:cNvSpPr txBox="1"/>
          <p:nvPr/>
        </p:nvSpPr>
        <p:spPr>
          <a:xfrm>
            <a:off x="6550818" y="2762250"/>
            <a:ext cx="4900612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818CF8"/>
                </a:solidFill>
                <a:latin typeface="Inter"/>
                <a:ea typeface="Inter"/>
                <a:cs typeface="Inter"/>
                <a:sym typeface="Inter"/>
              </a:rPr>
              <a:t>Search Complexity</a:t>
            </a:r>
            <a:endParaRPr/>
          </a:p>
        </p:txBody>
      </p:sp>
      <p:sp>
        <p:nvSpPr>
          <p:cNvPr id="259" name="Google Shape;259;p24"/>
          <p:cNvSpPr txBox="1"/>
          <p:nvPr/>
        </p:nvSpPr>
        <p:spPr>
          <a:xfrm>
            <a:off x="6667500" y="3326010"/>
            <a:ext cx="46672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Finding the optimal 3 pixels in a 4000x4000 image is a massive optimization problem.</a:t>
            </a:r>
            <a:endParaRPr/>
          </a:p>
        </p:txBody>
      </p:sp>
      <p:sp>
        <p:nvSpPr>
          <p:cNvPr id="260" name="Google Shape;260;p24"/>
          <p:cNvSpPr txBox="1"/>
          <p:nvPr/>
        </p:nvSpPr>
        <p:spPr>
          <a:xfrm>
            <a:off x="6667500" y="4088010"/>
            <a:ext cx="466725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818CF8"/>
                </a:solidFill>
                <a:latin typeface="Inter"/>
                <a:ea typeface="Inter"/>
                <a:cs typeface="Inter"/>
                <a:sym typeface="Inter"/>
              </a:rPr>
              <a:t>15-Dim Search Space</a:t>
            </a:r>
            <a:endParaRPr/>
          </a:p>
        </p:txBody>
      </p:sp>
      <p:sp>
        <p:nvSpPr>
          <p:cNvPr id="261" name="Google Shape;261;p24"/>
          <p:cNvSpPr txBox="1"/>
          <p:nvPr/>
        </p:nvSpPr>
        <p:spPr>
          <a:xfrm>
            <a:off x="6667500" y="4602360"/>
            <a:ext cx="46672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DE helps navigate this better than random search, but the sparsity is still a major hurdle for YOLOv9.</a:t>
            </a:r>
            <a:endParaRPr/>
          </a:p>
        </p:txBody>
      </p:sp>
      <p:sp>
        <p:nvSpPr>
          <p:cNvPr id="262" name="Google Shape;262;p24"/>
          <p:cNvSpPr txBox="1"/>
          <p:nvPr/>
        </p:nvSpPr>
        <p:spPr>
          <a:xfrm>
            <a:off x="466725" y="5231010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63" name="Google Shape;263;p24"/>
          <p:cNvSpPr txBox="1"/>
          <p:nvPr/>
        </p:nvSpPr>
        <p:spPr>
          <a:xfrm>
            <a:off x="571500" y="5231010"/>
            <a:ext cx="52387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Sample Size: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Due to high compute cost (minutes per image), we evaluated on a random 5% subset (18 images).</a:t>
            </a:r>
            <a:endParaRPr/>
          </a:p>
        </p:txBody>
      </p:sp>
      <p:sp>
        <p:nvSpPr>
          <p:cNvPr id="264" name="Google Shape;264;p24"/>
          <p:cNvSpPr txBox="1"/>
          <p:nvPr/>
        </p:nvSpPr>
        <p:spPr>
          <a:xfrm>
            <a:off x="466725" y="6297810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265" name="Google Shape;265;p24"/>
          <p:cNvSpPr txBox="1"/>
          <p:nvPr/>
        </p:nvSpPr>
        <p:spPr>
          <a:xfrm>
            <a:off x="571500" y="6297810"/>
            <a:ext cx="5238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Goal: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Minimize sum of detection confidence scores.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70" name="Google Shape;270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1333500"/>
            <a:ext cx="11049000" cy="4953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1" name="Google Shape;271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3630959"/>
            <a:ext cx="5238750" cy="1683841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25"/>
          <p:cNvSpPr txBox="1"/>
          <p:nvPr/>
        </p:nvSpPr>
        <p:spPr>
          <a:xfrm>
            <a:off x="762000" y="476250"/>
            <a:ext cx="8331041" cy="377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RESULTS: ROBUSTNESS TO SPARSE NOISE</a:t>
            </a:r>
            <a:endParaRPr/>
          </a:p>
        </p:txBody>
      </p:sp>
      <p:sp>
        <p:nvSpPr>
          <p:cNvPr id="273" name="Google Shape;273;p25"/>
          <p:cNvSpPr/>
          <p:nvPr/>
        </p:nvSpPr>
        <p:spPr>
          <a:xfrm>
            <a:off x="571500" y="476250"/>
            <a:ext cx="38100" cy="37713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25"/>
          <p:cNvSpPr txBox="1"/>
          <p:nvPr/>
        </p:nvSpPr>
        <p:spPr>
          <a:xfrm>
            <a:off x="6381750" y="2305198"/>
            <a:ext cx="5500687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818CF8"/>
                </a:solidFill>
                <a:latin typeface="Inter"/>
                <a:ea typeface="Inter"/>
                <a:cs typeface="Inter"/>
                <a:sym typeface="Inter"/>
              </a:rPr>
              <a:t>Analysis: Failure to Launch</a:t>
            </a:r>
            <a:endParaRPr/>
          </a:p>
        </p:txBody>
      </p:sp>
      <p:sp>
        <p:nvSpPr>
          <p:cNvPr id="275" name="Google Shape;275;p25"/>
          <p:cNvSpPr txBox="1"/>
          <p:nvPr/>
        </p:nvSpPr>
        <p:spPr>
          <a:xfrm>
            <a:off x="6381750" y="2868959"/>
            <a:ext cx="5238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The pixel attacks failed to dent the model's performance. The drop was statistically insignificant (&lt; 0.5%).</a:t>
            </a:r>
            <a:endParaRPr/>
          </a:p>
        </p:txBody>
      </p:sp>
      <p:sp>
        <p:nvSpPr>
          <p:cNvPr id="276" name="Google Shape;276;p25"/>
          <p:cNvSpPr txBox="1"/>
          <p:nvPr/>
        </p:nvSpPr>
        <p:spPr>
          <a:xfrm>
            <a:off x="6550818" y="3954809"/>
            <a:ext cx="4900612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Precision-Recall Anomaly</a:t>
            </a:r>
            <a:endParaRPr/>
          </a:p>
        </p:txBody>
      </p:sp>
      <p:sp>
        <p:nvSpPr>
          <p:cNvPr id="277" name="Google Shape;277;p25"/>
          <p:cNvSpPr txBox="1"/>
          <p:nvPr/>
        </p:nvSpPr>
        <p:spPr>
          <a:xfrm>
            <a:off x="6667500" y="4145309"/>
            <a:ext cx="4667250" cy="7313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Precision dropped (~4%), but Recall increased (~1.5%). The random noise acted as a </a:t>
            </a:r>
            <a:r>
              <a:rPr b="1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distractor</a:t>
            </a:r>
            <a:r>
              <a:rPr b="0" i="0" lang="en-US" sz="12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, causing false positives, but accidentally helped the model find some edge-case objects.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26"/>
          <p:cNvSpPr txBox="1"/>
          <p:nvPr/>
        </p:nvSpPr>
        <p:spPr>
          <a:xfrm>
            <a:off x="762000" y="476250"/>
            <a:ext cx="8331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RESULTS: ROBUSTNESS TO SPARSE NOISE</a:t>
            </a:r>
            <a:endParaRPr/>
          </a:p>
        </p:txBody>
      </p:sp>
      <p:sp>
        <p:nvSpPr>
          <p:cNvPr id="283" name="Google Shape;283;p26"/>
          <p:cNvSpPr/>
          <p:nvPr/>
        </p:nvSpPr>
        <p:spPr>
          <a:xfrm>
            <a:off x="571500" y="476250"/>
            <a:ext cx="38100" cy="377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4" name="Google Shape;284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49575" y="1328738"/>
            <a:ext cx="6448425" cy="4200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27"/>
          <p:cNvSpPr txBox="1"/>
          <p:nvPr/>
        </p:nvSpPr>
        <p:spPr>
          <a:xfrm>
            <a:off x="490537" y="2451794"/>
            <a:ext cx="1140142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PART III</a:t>
            </a:r>
            <a:endParaRPr/>
          </a:p>
        </p:txBody>
      </p:sp>
      <p:sp>
        <p:nvSpPr>
          <p:cNvPr id="290" name="Google Shape;290;p27"/>
          <p:cNvSpPr txBox="1"/>
          <p:nvPr/>
        </p:nvSpPr>
        <p:spPr>
          <a:xfrm>
            <a:off x="490537" y="2882205"/>
            <a:ext cx="11401425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Patch-based Attacks</a:t>
            </a:r>
            <a:endParaRPr/>
          </a:p>
        </p:txBody>
      </p:sp>
      <p:sp>
        <p:nvSpPr>
          <p:cNvPr id="291" name="Google Shape;291;p27"/>
          <p:cNvSpPr txBox="1"/>
          <p:nvPr/>
        </p:nvSpPr>
        <p:spPr>
          <a:xfrm>
            <a:off x="762000" y="3949005"/>
            <a:ext cx="10858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From Black-box Heuristics to White-box Gradients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28"/>
          <p:cNvSpPr txBox="1"/>
          <p:nvPr/>
        </p:nvSpPr>
        <p:spPr>
          <a:xfrm>
            <a:off x="762000" y="476250"/>
            <a:ext cx="8321040" cy="377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ATTACK 1: BLACK-BOX UNIVERSAL PATCH</a:t>
            </a:r>
            <a:endParaRPr/>
          </a:p>
        </p:txBody>
      </p:sp>
      <p:sp>
        <p:nvSpPr>
          <p:cNvPr id="297" name="Google Shape;297;p28"/>
          <p:cNvSpPr/>
          <p:nvPr/>
        </p:nvSpPr>
        <p:spPr>
          <a:xfrm>
            <a:off x="571500" y="476250"/>
            <a:ext cx="38100" cy="37713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28"/>
          <p:cNvSpPr txBox="1"/>
          <p:nvPr/>
        </p:nvSpPr>
        <p:spPr>
          <a:xfrm>
            <a:off x="6381750" y="1927919"/>
            <a:ext cx="5500687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818CF8"/>
                </a:solidFill>
                <a:latin typeface="Inter"/>
                <a:ea typeface="Inter"/>
                <a:cs typeface="Inter"/>
                <a:sym typeface="Inter"/>
              </a:rPr>
              <a:t>Hill Climbing POC</a:t>
            </a:r>
            <a:endParaRPr/>
          </a:p>
        </p:txBody>
      </p:sp>
      <p:sp>
        <p:nvSpPr>
          <p:cNvPr id="299" name="Google Shape;299;p28"/>
          <p:cNvSpPr txBox="1"/>
          <p:nvPr/>
        </p:nvSpPr>
        <p:spPr>
          <a:xfrm>
            <a:off x="6381750" y="2491680"/>
            <a:ext cx="52387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This is a query-based Proof-of-Concept (POC). We don't use gradients. We simply "mutate" the patch and keep the version that lowers the model's confidence sum.</a:t>
            </a:r>
            <a:endParaRPr/>
          </a:p>
        </p:txBody>
      </p:sp>
      <p:sp>
        <p:nvSpPr>
          <p:cNvPr id="300" name="Google Shape;300;p28"/>
          <p:cNvSpPr txBox="1"/>
          <p:nvPr/>
        </p:nvSpPr>
        <p:spPr>
          <a:xfrm>
            <a:off x="6381750" y="3558480"/>
            <a:ext cx="5238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Limitations:</a:t>
            </a:r>
            <a:endParaRPr/>
          </a:p>
        </p:txBody>
      </p:sp>
      <p:sp>
        <p:nvSpPr>
          <p:cNvPr id="301" name="Google Shape;301;p28"/>
          <p:cNvSpPr txBox="1"/>
          <p:nvPr/>
        </p:nvSpPr>
        <p:spPr>
          <a:xfrm>
            <a:off x="6276975" y="4015680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02" name="Google Shape;302;p28"/>
          <p:cNvSpPr txBox="1"/>
          <p:nvPr/>
        </p:nvSpPr>
        <p:spPr>
          <a:xfrm>
            <a:off x="6381750" y="4015680"/>
            <a:ext cx="5238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Prone to getting stuck in local optima.</a:t>
            </a:r>
            <a:endParaRPr/>
          </a:p>
        </p:txBody>
      </p:sp>
      <p:sp>
        <p:nvSpPr>
          <p:cNvPr id="303" name="Google Shape;303;p28"/>
          <p:cNvSpPr txBox="1"/>
          <p:nvPr/>
        </p:nvSpPr>
        <p:spPr>
          <a:xfrm>
            <a:off x="6276975" y="4472880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04" name="Google Shape;304;p28"/>
          <p:cNvSpPr txBox="1"/>
          <p:nvPr/>
        </p:nvSpPr>
        <p:spPr>
          <a:xfrm>
            <a:off x="6381750" y="4472880"/>
            <a:ext cx="5238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Computationally inefficient (requires many inference calls).</a:t>
            </a:r>
            <a:endParaRPr/>
          </a:p>
        </p:txBody>
      </p:sp>
      <p:sp>
        <p:nvSpPr>
          <p:cNvPr id="305" name="Google Shape;305;p28"/>
          <p:cNvSpPr txBox="1"/>
          <p:nvPr/>
        </p:nvSpPr>
        <p:spPr>
          <a:xfrm>
            <a:off x="6276975" y="5234880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06" name="Google Shape;306;p28"/>
          <p:cNvSpPr txBox="1"/>
          <p:nvPr/>
        </p:nvSpPr>
        <p:spPr>
          <a:xfrm>
            <a:off x="6381750" y="5234880"/>
            <a:ext cx="5238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Acts as a "distractor" rather than a targeted suppressor.</a:t>
            </a:r>
            <a:endParaRPr/>
          </a:p>
        </p:txBody>
      </p:sp>
      <p:sp>
        <p:nvSpPr>
          <p:cNvPr id="307" name="Google Shape;307;p28"/>
          <p:cNvSpPr txBox="1"/>
          <p:nvPr/>
        </p:nvSpPr>
        <p:spPr>
          <a:xfrm>
            <a:off x="550200" y="1562200"/>
            <a:ext cx="5020800" cy="4175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C084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def</a:t>
            </a:r>
            <a:r>
              <a:rPr lang="en-US" sz="1200">
                <a:solidFill>
                  <a:srgbClr val="E2E8F0"/>
                </a:solidFill>
                <a:highlight>
                  <a:srgbClr val="020617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1200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optimize_patch</a:t>
            </a:r>
            <a:r>
              <a:rPr lang="en-US" sz="1200">
                <a:solidFill>
                  <a:srgbClr val="E2E8F0"/>
                </a:solidFill>
                <a:highlight>
                  <a:srgbClr val="020617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():</a:t>
            </a:r>
            <a:endParaRPr sz="1200">
              <a:solidFill>
                <a:srgbClr val="E2E8F0"/>
              </a:solidFill>
              <a:highlight>
                <a:srgbClr val="020617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E2E8F0"/>
                </a:solidFill>
                <a:highlight>
                  <a:srgbClr val="020617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 patch = initialize_random_patch()</a:t>
            </a:r>
            <a:endParaRPr sz="1200">
              <a:solidFill>
                <a:srgbClr val="E2E8F0"/>
              </a:solidFill>
              <a:highlight>
                <a:srgbClr val="020617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E2E8F0"/>
                </a:solidFill>
                <a:highlight>
                  <a:srgbClr val="020617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 best_score = float(</a:t>
            </a:r>
            <a:r>
              <a:rPr lang="en-US" sz="1200">
                <a:solidFill>
                  <a:srgbClr val="A3E63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'inf'</a:t>
            </a:r>
            <a:r>
              <a:rPr lang="en-US" sz="1200">
                <a:solidFill>
                  <a:srgbClr val="E2E8F0"/>
                </a:solidFill>
                <a:highlight>
                  <a:srgbClr val="020617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)</a:t>
            </a:r>
            <a:endParaRPr sz="1200">
              <a:solidFill>
                <a:srgbClr val="E2E8F0"/>
              </a:solidFill>
              <a:highlight>
                <a:srgbClr val="020617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E2E8F0"/>
              </a:solidFill>
              <a:highlight>
                <a:srgbClr val="020617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E2E8F0"/>
                </a:solidFill>
                <a:highlight>
                  <a:srgbClr val="020617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 </a:t>
            </a:r>
            <a:r>
              <a:rPr lang="en-US" sz="1200">
                <a:solidFill>
                  <a:srgbClr val="C084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for</a:t>
            </a:r>
            <a:r>
              <a:rPr lang="en-US" sz="1200">
                <a:solidFill>
                  <a:srgbClr val="E2E8F0"/>
                </a:solidFill>
                <a:highlight>
                  <a:srgbClr val="020617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iteration </a:t>
            </a:r>
            <a:r>
              <a:rPr lang="en-US" sz="1200">
                <a:solidFill>
                  <a:srgbClr val="C084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</a:t>
            </a:r>
            <a:r>
              <a:rPr lang="en-US" sz="1200">
                <a:solidFill>
                  <a:srgbClr val="E2E8F0"/>
                </a:solidFill>
                <a:highlight>
                  <a:srgbClr val="020617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1200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range</a:t>
            </a:r>
            <a:r>
              <a:rPr lang="en-US" sz="1200">
                <a:solidFill>
                  <a:srgbClr val="E2E8F0"/>
                </a:solidFill>
                <a:highlight>
                  <a:srgbClr val="020617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(N):</a:t>
            </a:r>
            <a:endParaRPr sz="1200">
              <a:solidFill>
                <a:srgbClr val="E2E8F0"/>
              </a:solidFill>
              <a:highlight>
                <a:srgbClr val="020617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E2E8F0"/>
                </a:solidFill>
                <a:highlight>
                  <a:srgbClr val="020617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     </a:t>
            </a:r>
            <a:r>
              <a:rPr i="1" lang="en-US" sz="1200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1. Mutate: "Paint" rectangles or add noise</a:t>
            </a:r>
            <a:endParaRPr sz="1200">
              <a:solidFill>
                <a:srgbClr val="E2E8F0"/>
              </a:solidFill>
              <a:highlight>
                <a:srgbClr val="020617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E2E8F0"/>
                </a:solidFill>
                <a:highlight>
                  <a:srgbClr val="020617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     candidate = mutate(patch)</a:t>
            </a:r>
            <a:endParaRPr sz="1200">
              <a:solidFill>
                <a:srgbClr val="E2E8F0"/>
              </a:solidFill>
              <a:highlight>
                <a:srgbClr val="020617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E2E8F0"/>
                </a:solidFill>
                <a:highlight>
                  <a:srgbClr val="020617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     </a:t>
            </a:r>
            <a:endParaRPr sz="1200">
              <a:solidFill>
                <a:srgbClr val="E2E8F0"/>
              </a:solidFill>
              <a:highlight>
                <a:srgbClr val="020617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E2E8F0"/>
                </a:solidFill>
                <a:highlight>
                  <a:srgbClr val="020617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     </a:t>
            </a:r>
            <a:r>
              <a:rPr i="1" lang="en-US" sz="1200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2. Evaluate with EoT (Expectation over Transforms)</a:t>
            </a:r>
            <a:endParaRPr sz="1200">
              <a:solidFill>
                <a:srgbClr val="E2E8F0"/>
              </a:solidFill>
              <a:highlight>
                <a:srgbClr val="020617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E2E8F0"/>
                </a:solidFill>
                <a:highlight>
                  <a:srgbClr val="020617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     current_score = 0</a:t>
            </a:r>
            <a:endParaRPr sz="1200">
              <a:solidFill>
                <a:srgbClr val="E2E8F0"/>
              </a:solidFill>
              <a:highlight>
                <a:srgbClr val="020617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E2E8F0"/>
                </a:solidFill>
                <a:highlight>
                  <a:srgbClr val="020617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     </a:t>
            </a:r>
            <a:r>
              <a:rPr lang="en-US" sz="1200">
                <a:solidFill>
                  <a:srgbClr val="C084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for</a:t>
            </a:r>
            <a:r>
              <a:rPr lang="en-US" sz="1200">
                <a:solidFill>
                  <a:srgbClr val="E2E8F0"/>
                </a:solidFill>
                <a:highlight>
                  <a:srgbClr val="020617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img </a:t>
            </a:r>
            <a:r>
              <a:rPr lang="en-US" sz="1200">
                <a:solidFill>
                  <a:srgbClr val="C084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</a:t>
            </a:r>
            <a:r>
              <a:rPr lang="en-US" sz="1200">
                <a:solidFill>
                  <a:srgbClr val="E2E8F0"/>
                </a:solidFill>
                <a:highlight>
                  <a:srgbClr val="020617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validation_batch:</a:t>
            </a:r>
            <a:endParaRPr sz="1200">
              <a:solidFill>
                <a:srgbClr val="E2E8F0"/>
              </a:solidFill>
              <a:highlight>
                <a:srgbClr val="020617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E2E8F0"/>
                </a:solidFill>
                <a:highlight>
                  <a:srgbClr val="020617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         </a:t>
            </a:r>
            <a:r>
              <a:rPr i="1" lang="en-US" sz="1200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Apply patch with random scale/rotation</a:t>
            </a:r>
            <a:endParaRPr sz="1200">
              <a:solidFill>
                <a:srgbClr val="E2E8F0"/>
              </a:solidFill>
              <a:highlight>
                <a:srgbClr val="020617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E2E8F0"/>
                </a:solidFill>
                <a:highlight>
                  <a:srgbClr val="020617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         patched_img = apply_eot(img, candidate)</a:t>
            </a:r>
            <a:endParaRPr sz="1200">
              <a:solidFill>
                <a:srgbClr val="E2E8F0"/>
              </a:solidFill>
              <a:highlight>
                <a:srgbClr val="020617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E2E8F0"/>
                </a:solidFill>
                <a:highlight>
                  <a:srgbClr val="020617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         preds = yolo_predict(patched_img)</a:t>
            </a:r>
            <a:endParaRPr sz="1200">
              <a:solidFill>
                <a:srgbClr val="E2E8F0"/>
              </a:solidFill>
              <a:highlight>
                <a:srgbClr val="020617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E2E8F0"/>
                </a:solidFill>
                <a:highlight>
                  <a:srgbClr val="020617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         current_score += sum(preds.confidences)</a:t>
            </a:r>
            <a:endParaRPr sz="1200">
              <a:solidFill>
                <a:srgbClr val="E2E8F0"/>
              </a:solidFill>
              <a:highlight>
                <a:srgbClr val="020617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E2E8F0"/>
                </a:solidFill>
                <a:highlight>
                  <a:srgbClr val="020617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         </a:t>
            </a:r>
            <a:endParaRPr sz="1200">
              <a:solidFill>
                <a:srgbClr val="E2E8F0"/>
              </a:solidFill>
              <a:highlight>
                <a:srgbClr val="020617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E2E8F0"/>
                </a:solidFill>
                <a:highlight>
                  <a:srgbClr val="020617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     </a:t>
            </a:r>
            <a:r>
              <a:rPr i="1" lang="en-US" sz="1200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3. Hill Climbing Selection</a:t>
            </a:r>
            <a:endParaRPr sz="1200">
              <a:solidFill>
                <a:srgbClr val="E2E8F0"/>
              </a:solidFill>
              <a:highlight>
                <a:srgbClr val="020617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E2E8F0"/>
                </a:solidFill>
                <a:highlight>
                  <a:srgbClr val="020617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     </a:t>
            </a:r>
            <a:r>
              <a:rPr lang="en-US" sz="1200">
                <a:solidFill>
                  <a:srgbClr val="C084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if</a:t>
            </a:r>
            <a:r>
              <a:rPr lang="en-US" sz="1200">
                <a:solidFill>
                  <a:srgbClr val="E2E8F0"/>
                </a:solidFill>
                <a:highlight>
                  <a:srgbClr val="020617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current_score &lt; best_score:</a:t>
            </a:r>
            <a:endParaRPr sz="1200">
              <a:solidFill>
                <a:srgbClr val="E2E8F0"/>
              </a:solidFill>
              <a:highlight>
                <a:srgbClr val="020617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E2E8F0"/>
                </a:solidFill>
                <a:highlight>
                  <a:srgbClr val="020617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         patch = candidate</a:t>
            </a:r>
            <a:endParaRPr sz="1200">
              <a:solidFill>
                <a:srgbClr val="E2E8F0"/>
              </a:solidFill>
              <a:highlight>
                <a:srgbClr val="020617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E2E8F0"/>
                </a:solidFill>
                <a:highlight>
                  <a:srgbClr val="020617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         best_score = current_score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12" name="Google Shape;312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81750" y="1333500"/>
            <a:ext cx="5238750" cy="5013721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29"/>
          <p:cNvSpPr txBox="1"/>
          <p:nvPr/>
        </p:nvSpPr>
        <p:spPr>
          <a:xfrm>
            <a:off x="762000" y="476250"/>
            <a:ext cx="4050506" cy="377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TRAINING WITH EOT</a:t>
            </a:r>
            <a:endParaRPr/>
          </a:p>
        </p:txBody>
      </p:sp>
      <p:sp>
        <p:nvSpPr>
          <p:cNvPr id="314" name="Google Shape;314;p29"/>
          <p:cNvSpPr/>
          <p:nvPr/>
        </p:nvSpPr>
        <p:spPr>
          <a:xfrm>
            <a:off x="571500" y="476250"/>
            <a:ext cx="38100" cy="37713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29"/>
          <p:cNvSpPr txBox="1"/>
          <p:nvPr/>
        </p:nvSpPr>
        <p:spPr>
          <a:xfrm>
            <a:off x="571500" y="1333500"/>
            <a:ext cx="5500687" cy="6703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818CF8"/>
                </a:solidFill>
                <a:latin typeface="Inter"/>
                <a:ea typeface="Inter"/>
                <a:cs typeface="Inter"/>
                <a:sym typeface="Inter"/>
              </a:rPr>
              <a:t>Expectation over Transformations (EoT)</a:t>
            </a:r>
            <a:endParaRPr/>
          </a:p>
        </p:txBody>
      </p:sp>
      <p:sp>
        <p:nvSpPr>
          <p:cNvPr id="316" name="Google Shape;316;p29"/>
          <p:cNvSpPr txBox="1"/>
          <p:nvPr/>
        </p:nvSpPr>
        <p:spPr>
          <a:xfrm>
            <a:off x="571500" y="2232421"/>
            <a:ext cx="5238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 static patch is weak. If the object moves or rotates, the attack fails. To fix this, we train the patch using EoT.</a:t>
            </a:r>
            <a:endParaRPr/>
          </a:p>
        </p:txBody>
      </p:sp>
      <p:sp>
        <p:nvSpPr>
          <p:cNvPr id="317" name="Google Shape;317;p29"/>
          <p:cNvSpPr txBox="1"/>
          <p:nvPr/>
        </p:nvSpPr>
        <p:spPr>
          <a:xfrm>
            <a:off x="571500" y="2994421"/>
            <a:ext cx="5238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During every training step:</a:t>
            </a:r>
            <a:endParaRPr/>
          </a:p>
        </p:txBody>
      </p:sp>
      <p:sp>
        <p:nvSpPr>
          <p:cNvPr id="318" name="Google Shape;318;p29"/>
          <p:cNvSpPr txBox="1"/>
          <p:nvPr/>
        </p:nvSpPr>
        <p:spPr>
          <a:xfrm>
            <a:off x="571500" y="5585221"/>
            <a:ext cx="5238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The optimizer learns a patch pattern that is robust to all these physical variations.</a:t>
            </a:r>
            <a:endParaRPr/>
          </a:p>
        </p:txBody>
      </p:sp>
      <p:pic>
        <p:nvPicPr>
          <p:cNvPr descr="image.png" id="319" name="Google Shape;319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333500"/>
            <a:ext cx="5238750" cy="5013721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29"/>
          <p:cNvSpPr txBox="1"/>
          <p:nvPr/>
        </p:nvSpPr>
        <p:spPr>
          <a:xfrm>
            <a:off x="466725" y="3451621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21" name="Google Shape;321;p29"/>
          <p:cNvSpPr txBox="1"/>
          <p:nvPr/>
        </p:nvSpPr>
        <p:spPr>
          <a:xfrm>
            <a:off x="571500" y="3451621"/>
            <a:ext cx="5238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Apply the patch to the image with random </a:t>
            </a:r>
            <a:r>
              <a:rPr b="1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Location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(x, y).</a:t>
            </a:r>
            <a:endParaRPr/>
          </a:p>
        </p:txBody>
      </p:sp>
      <p:sp>
        <p:nvSpPr>
          <p:cNvPr id="322" name="Google Shape;322;p29"/>
          <p:cNvSpPr txBox="1"/>
          <p:nvPr/>
        </p:nvSpPr>
        <p:spPr>
          <a:xfrm>
            <a:off x="466725" y="4213621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23" name="Google Shape;323;p29"/>
          <p:cNvSpPr txBox="1"/>
          <p:nvPr/>
        </p:nvSpPr>
        <p:spPr>
          <a:xfrm>
            <a:off x="571500" y="4213621"/>
            <a:ext cx="52389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Apply random </a:t>
            </a:r>
            <a:r>
              <a:rPr b="1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Scale</a:t>
            </a:r>
            <a:endParaRPr/>
          </a:p>
        </p:txBody>
      </p:sp>
      <p:sp>
        <p:nvSpPr>
          <p:cNvPr id="324" name="Google Shape;324;p29"/>
          <p:cNvSpPr txBox="1"/>
          <p:nvPr/>
        </p:nvSpPr>
        <p:spPr>
          <a:xfrm>
            <a:off x="466725" y="4670821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25" name="Google Shape;325;p29"/>
          <p:cNvSpPr txBox="1"/>
          <p:nvPr/>
        </p:nvSpPr>
        <p:spPr>
          <a:xfrm>
            <a:off x="571500" y="4670821"/>
            <a:ext cx="52389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Apply random </a:t>
            </a:r>
            <a:r>
              <a:rPr b="1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Rotation</a:t>
            </a:r>
            <a:r>
              <a:rPr lang="en-US" sz="15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sp>
        <p:nvSpPr>
          <p:cNvPr id="326" name="Google Shape;326;p29"/>
          <p:cNvSpPr txBox="1"/>
          <p:nvPr/>
        </p:nvSpPr>
        <p:spPr>
          <a:xfrm>
            <a:off x="466725" y="5128021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27" name="Google Shape;327;p29"/>
          <p:cNvSpPr txBox="1"/>
          <p:nvPr/>
        </p:nvSpPr>
        <p:spPr>
          <a:xfrm>
            <a:off x="571500" y="5128021"/>
            <a:ext cx="5238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Apply random </a:t>
            </a:r>
            <a:r>
              <a:rPr b="1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Opacity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30"/>
          <p:cNvSpPr txBox="1"/>
          <p:nvPr/>
        </p:nvSpPr>
        <p:spPr>
          <a:xfrm>
            <a:off x="762000" y="476250"/>
            <a:ext cx="79110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ATTACK 2: ROBUST</a:t>
            </a:r>
            <a:r>
              <a:rPr b="1" lang="en-US" sz="27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1" i="0" lang="en-US" sz="27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DPATCH </a:t>
            </a:r>
            <a:r>
              <a:rPr b="1" lang="en-US" sz="27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ATTACK</a:t>
            </a:r>
            <a:endParaRPr/>
          </a:p>
        </p:txBody>
      </p:sp>
      <p:sp>
        <p:nvSpPr>
          <p:cNvPr id="333" name="Google Shape;333;p30"/>
          <p:cNvSpPr/>
          <p:nvPr/>
        </p:nvSpPr>
        <p:spPr>
          <a:xfrm>
            <a:off x="571500" y="476250"/>
            <a:ext cx="38100" cy="37713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30"/>
          <p:cNvSpPr txBox="1"/>
          <p:nvPr/>
        </p:nvSpPr>
        <p:spPr>
          <a:xfrm>
            <a:off x="571500" y="1333500"/>
            <a:ext cx="5500687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818CF8"/>
                </a:solidFill>
                <a:latin typeface="Inter"/>
                <a:ea typeface="Inter"/>
                <a:cs typeface="Inter"/>
                <a:sym typeface="Inter"/>
              </a:rPr>
              <a:t>The Goal</a:t>
            </a:r>
            <a:endParaRPr/>
          </a:p>
        </p:txBody>
      </p:sp>
      <p:sp>
        <p:nvSpPr>
          <p:cNvPr id="335" name="Google Shape;335;p30"/>
          <p:cNvSpPr txBox="1"/>
          <p:nvPr/>
        </p:nvSpPr>
        <p:spPr>
          <a:xfrm>
            <a:off x="571500" y="1897250"/>
            <a:ext cx="95319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Generate a single, universal patch that</a:t>
            </a:r>
            <a:r>
              <a:rPr lang="en-US" sz="15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suppresses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object detection across the entire dataset. This requires access to the model's gradients to optimize the patch pixels directly.</a:t>
            </a:r>
            <a:endParaRPr/>
          </a:p>
        </p:txBody>
      </p:sp>
      <p:sp>
        <p:nvSpPr>
          <p:cNvPr id="336" name="Google Shape;336;p30"/>
          <p:cNvSpPr txBox="1"/>
          <p:nvPr/>
        </p:nvSpPr>
        <p:spPr>
          <a:xfrm>
            <a:off x="571500" y="3268860"/>
            <a:ext cx="5500687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818CF8"/>
                </a:solidFill>
                <a:latin typeface="Inter"/>
                <a:ea typeface="Inter"/>
                <a:cs typeface="Inter"/>
                <a:sym typeface="Inter"/>
              </a:rPr>
              <a:t>The Challenge</a:t>
            </a:r>
            <a:endParaRPr/>
          </a:p>
        </p:txBody>
      </p:sp>
      <p:sp>
        <p:nvSpPr>
          <p:cNvPr id="337" name="Google Shape;337;p30"/>
          <p:cNvSpPr txBox="1"/>
          <p:nvPr/>
        </p:nvSpPr>
        <p:spPr>
          <a:xfrm>
            <a:off x="571500" y="3832625"/>
            <a:ext cx="97980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Ultralytics YOLOv9 implementation is designed for inference, not adversarial attacks.</a:t>
            </a:r>
            <a:endParaRPr/>
          </a:p>
        </p:txBody>
      </p:sp>
      <p:sp>
        <p:nvSpPr>
          <p:cNvPr id="338" name="Google Shape;338;p30"/>
          <p:cNvSpPr txBox="1"/>
          <p:nvPr/>
        </p:nvSpPr>
        <p:spPr>
          <a:xfrm>
            <a:off x="466725" y="4594621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39" name="Google Shape;339;p30"/>
          <p:cNvSpPr txBox="1"/>
          <p:nvPr/>
        </p:nvSpPr>
        <p:spPr>
          <a:xfrm>
            <a:off x="571500" y="4594625"/>
            <a:ext cx="78090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No Gradient Access: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The standard API applies Non-Max Suppression (NMS), which is non-differentiable and breaks the backward pass.</a:t>
            </a:r>
            <a:endParaRPr/>
          </a:p>
        </p:txBody>
      </p:sp>
      <p:sp>
        <p:nvSpPr>
          <p:cNvPr id="340" name="Google Shape;340;p30"/>
          <p:cNvSpPr txBox="1"/>
          <p:nvPr/>
        </p:nvSpPr>
        <p:spPr>
          <a:xfrm>
            <a:off x="466725" y="5661421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41" name="Google Shape;341;p30"/>
          <p:cNvSpPr txBox="1"/>
          <p:nvPr/>
        </p:nvSpPr>
        <p:spPr>
          <a:xfrm>
            <a:off x="571500" y="5661425"/>
            <a:ext cx="76827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Input Mismatch: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ART (Adversarial Robustness Toolbox) expects NCHW float tensors; YOLO expects NHWC uint8.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31"/>
          <p:cNvSpPr txBox="1"/>
          <p:nvPr/>
        </p:nvSpPr>
        <p:spPr>
          <a:xfrm>
            <a:off x="762000" y="476250"/>
            <a:ext cx="7550943" cy="377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SOLUTION: CUSTOM WRAPPER CLASS</a:t>
            </a:r>
            <a:endParaRPr/>
          </a:p>
        </p:txBody>
      </p:sp>
      <p:sp>
        <p:nvSpPr>
          <p:cNvPr id="347" name="Google Shape;347;p31"/>
          <p:cNvSpPr/>
          <p:nvPr/>
        </p:nvSpPr>
        <p:spPr>
          <a:xfrm>
            <a:off x="571500" y="476250"/>
            <a:ext cx="38100" cy="37713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31"/>
          <p:cNvSpPr txBox="1"/>
          <p:nvPr/>
        </p:nvSpPr>
        <p:spPr>
          <a:xfrm>
            <a:off x="571500" y="1772750"/>
            <a:ext cx="110490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To bridge YOLOv9 and ART, we implemented YoloV9ARTDetector. This class acts as a</a:t>
            </a:r>
            <a:r>
              <a:rPr lang="en-US" sz="15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wrapper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, exposing the necessary internal mechanics of YOLO to the ART optimizer.</a:t>
            </a:r>
            <a:endParaRPr/>
          </a:p>
        </p:txBody>
      </p:sp>
      <p:sp>
        <p:nvSpPr>
          <p:cNvPr id="349" name="Google Shape;349;p31"/>
          <p:cNvSpPr txBox="1"/>
          <p:nvPr/>
        </p:nvSpPr>
        <p:spPr>
          <a:xfrm>
            <a:off x="2794650" y="2877275"/>
            <a:ext cx="6602700" cy="2770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C084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class</a:t>
            </a:r>
            <a:r>
              <a:rPr lang="en-US" sz="1200">
                <a:solidFill>
                  <a:srgbClr val="E2E8F0"/>
                </a:solidFill>
                <a:highlight>
                  <a:srgbClr val="020617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1200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YoloV9ARTDetector</a:t>
            </a:r>
            <a:r>
              <a:rPr lang="en-US" sz="1200">
                <a:solidFill>
                  <a:srgbClr val="E2E8F0"/>
                </a:solidFill>
                <a:highlight>
                  <a:srgbClr val="020617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(ObjectDetector):</a:t>
            </a:r>
            <a:endParaRPr sz="1200">
              <a:solidFill>
                <a:srgbClr val="E2E8F0"/>
              </a:solidFill>
              <a:highlight>
                <a:srgbClr val="020617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E2E8F0"/>
                </a:solidFill>
                <a:highlight>
                  <a:srgbClr val="020617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 </a:t>
            </a:r>
            <a:r>
              <a:rPr lang="en-US" sz="1200">
                <a:solidFill>
                  <a:srgbClr val="C084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def</a:t>
            </a:r>
            <a:r>
              <a:rPr lang="en-US" sz="1200">
                <a:solidFill>
                  <a:srgbClr val="E2E8F0"/>
                </a:solidFill>
                <a:highlight>
                  <a:srgbClr val="020617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1200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__init__</a:t>
            </a:r>
            <a:r>
              <a:rPr lang="en-US" sz="1200">
                <a:solidFill>
                  <a:srgbClr val="E2E8F0"/>
                </a:solidFill>
                <a:highlight>
                  <a:srgbClr val="020617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(self, yolo_model):</a:t>
            </a:r>
            <a:endParaRPr sz="1200">
              <a:solidFill>
                <a:srgbClr val="E2E8F0"/>
              </a:solidFill>
              <a:highlight>
                <a:srgbClr val="020617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E2E8F0"/>
                </a:solidFill>
                <a:highlight>
                  <a:srgbClr val="020617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     </a:t>
            </a:r>
            <a:r>
              <a:rPr i="1" lang="en-US" sz="1200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Extract the underlying PyTorch module</a:t>
            </a:r>
            <a:endParaRPr sz="1200">
              <a:solidFill>
                <a:srgbClr val="E2E8F0"/>
              </a:solidFill>
              <a:highlight>
                <a:srgbClr val="020617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E2E8F0"/>
                </a:solidFill>
                <a:highlight>
                  <a:srgbClr val="020617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     self.model = yolo_model.model</a:t>
            </a:r>
            <a:endParaRPr sz="1200">
              <a:solidFill>
                <a:srgbClr val="E2E8F0"/>
              </a:solidFill>
              <a:highlight>
                <a:srgbClr val="020617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E2E8F0"/>
                </a:solidFill>
                <a:highlight>
                  <a:srgbClr val="020617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     </a:t>
            </a:r>
            <a:endParaRPr sz="1200">
              <a:solidFill>
                <a:srgbClr val="E2E8F0"/>
              </a:solidFill>
              <a:highlight>
                <a:srgbClr val="020617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E2E8F0"/>
                </a:solidFill>
                <a:highlight>
                  <a:srgbClr val="020617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     </a:t>
            </a:r>
            <a:r>
              <a:rPr i="1" lang="en-US" sz="1200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Freeze parameters (we optimize the patch, not the model)</a:t>
            </a:r>
            <a:endParaRPr sz="1200">
              <a:solidFill>
                <a:srgbClr val="E2E8F0"/>
              </a:solidFill>
              <a:highlight>
                <a:srgbClr val="020617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E2E8F0"/>
                </a:solidFill>
                <a:highlight>
                  <a:srgbClr val="020617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     </a:t>
            </a:r>
            <a:r>
              <a:rPr lang="en-US" sz="1200">
                <a:solidFill>
                  <a:srgbClr val="C084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for</a:t>
            </a:r>
            <a:r>
              <a:rPr lang="en-US" sz="1200">
                <a:solidFill>
                  <a:srgbClr val="E2E8F0"/>
                </a:solidFill>
                <a:highlight>
                  <a:srgbClr val="020617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param </a:t>
            </a:r>
            <a:r>
              <a:rPr lang="en-US" sz="1200">
                <a:solidFill>
                  <a:srgbClr val="C084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</a:t>
            </a:r>
            <a:r>
              <a:rPr lang="en-US" sz="1200">
                <a:solidFill>
                  <a:srgbClr val="E2E8F0"/>
                </a:solidFill>
                <a:highlight>
                  <a:srgbClr val="020617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self.model.parameters():</a:t>
            </a:r>
            <a:endParaRPr sz="1200">
              <a:solidFill>
                <a:srgbClr val="E2E8F0"/>
              </a:solidFill>
              <a:highlight>
                <a:srgbClr val="020617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E2E8F0"/>
                </a:solidFill>
                <a:highlight>
                  <a:srgbClr val="020617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         param.requires_grad = </a:t>
            </a:r>
            <a:r>
              <a:rPr lang="en-US" sz="1200">
                <a:solidFill>
                  <a:srgbClr val="C084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False</a:t>
            </a:r>
            <a:endParaRPr sz="1200">
              <a:solidFill>
                <a:srgbClr val="E2E8F0"/>
              </a:solidFill>
              <a:highlight>
                <a:srgbClr val="020617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E2E8F0"/>
                </a:solidFill>
                <a:highlight>
                  <a:srgbClr val="020617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         </a:t>
            </a:r>
            <a:endParaRPr sz="1200">
              <a:solidFill>
                <a:srgbClr val="E2E8F0"/>
              </a:solidFill>
              <a:highlight>
                <a:srgbClr val="020617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E2E8F0"/>
                </a:solidFill>
                <a:highlight>
                  <a:srgbClr val="020617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     </a:t>
            </a:r>
            <a:r>
              <a:rPr i="1" lang="en-US" sz="1200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Configure ART metadata</a:t>
            </a:r>
            <a:endParaRPr sz="1200">
              <a:solidFill>
                <a:srgbClr val="E2E8F0"/>
              </a:solidFill>
              <a:highlight>
                <a:srgbClr val="020617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E2E8F0"/>
                </a:solidFill>
                <a:highlight>
                  <a:srgbClr val="020617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     super().__init__(</a:t>
            </a:r>
            <a:endParaRPr sz="1200">
              <a:solidFill>
                <a:srgbClr val="E2E8F0"/>
              </a:solidFill>
              <a:highlight>
                <a:srgbClr val="020617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E2E8F0"/>
                </a:solidFill>
                <a:highlight>
                  <a:srgbClr val="020617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         clip_values=(0, 255), </a:t>
            </a:r>
            <a:endParaRPr sz="1200">
              <a:solidFill>
                <a:srgbClr val="E2E8F0"/>
              </a:solidFill>
              <a:highlight>
                <a:srgbClr val="020617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E2E8F0"/>
                </a:solidFill>
                <a:highlight>
                  <a:srgbClr val="020617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         channels_first=</a:t>
            </a:r>
            <a:r>
              <a:rPr lang="en-US" sz="1200">
                <a:solidFill>
                  <a:srgbClr val="C084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True</a:t>
            </a:r>
            <a:endParaRPr sz="1200">
              <a:solidFill>
                <a:srgbClr val="E2E8F0"/>
              </a:solidFill>
              <a:highlight>
                <a:srgbClr val="020617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E2E8F0"/>
                </a:solidFill>
                <a:highlight>
                  <a:srgbClr val="020617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     )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32"/>
          <p:cNvSpPr txBox="1"/>
          <p:nvPr/>
        </p:nvSpPr>
        <p:spPr>
          <a:xfrm>
            <a:off x="762000" y="476250"/>
            <a:ext cx="5780722" cy="377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WRAPPER: PREDICT METHOD</a:t>
            </a:r>
            <a:endParaRPr/>
          </a:p>
        </p:txBody>
      </p:sp>
      <p:sp>
        <p:nvSpPr>
          <p:cNvPr id="355" name="Google Shape;355;p32"/>
          <p:cNvSpPr/>
          <p:nvPr/>
        </p:nvSpPr>
        <p:spPr>
          <a:xfrm>
            <a:off x="571500" y="476250"/>
            <a:ext cx="38100" cy="37713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32"/>
          <p:cNvSpPr txBox="1"/>
          <p:nvPr/>
        </p:nvSpPr>
        <p:spPr>
          <a:xfrm>
            <a:off x="6381750" y="2227957"/>
            <a:ext cx="5500687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818CF8"/>
                </a:solidFill>
                <a:latin typeface="Inter"/>
                <a:ea typeface="Inter"/>
                <a:cs typeface="Inter"/>
                <a:sym typeface="Inter"/>
              </a:rPr>
              <a:t>Bridging the Gap</a:t>
            </a:r>
            <a:endParaRPr/>
          </a:p>
        </p:txBody>
      </p:sp>
      <p:sp>
        <p:nvSpPr>
          <p:cNvPr id="357" name="Google Shape;357;p32"/>
          <p:cNvSpPr txBox="1"/>
          <p:nvPr/>
        </p:nvSpPr>
        <p:spPr>
          <a:xfrm>
            <a:off x="6381750" y="2791717"/>
            <a:ext cx="52387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The predict method handles the format conversion and result parsing.</a:t>
            </a:r>
            <a:endParaRPr/>
          </a:p>
        </p:txBody>
      </p:sp>
      <p:sp>
        <p:nvSpPr>
          <p:cNvPr id="358" name="Google Shape;358;p32"/>
          <p:cNvSpPr txBox="1"/>
          <p:nvPr/>
        </p:nvSpPr>
        <p:spPr>
          <a:xfrm>
            <a:off x="6381750" y="3563242"/>
            <a:ext cx="52389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Critically, this method is used for </a:t>
            </a:r>
            <a:r>
              <a:rPr b="1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evaluation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. It returns the final, post-processed bounding boxes that a user would see.</a:t>
            </a:r>
            <a:endParaRPr/>
          </a:p>
        </p:txBody>
      </p:sp>
      <p:sp>
        <p:nvSpPr>
          <p:cNvPr id="359" name="Google Shape;359;p32"/>
          <p:cNvSpPr txBox="1"/>
          <p:nvPr/>
        </p:nvSpPr>
        <p:spPr>
          <a:xfrm>
            <a:off x="6381750" y="4630042"/>
            <a:ext cx="5238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Since it includes NMS, it is </a:t>
            </a:r>
            <a:r>
              <a:rPr b="1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not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used for gradient calculation.</a:t>
            </a:r>
            <a:endParaRPr/>
          </a:p>
        </p:txBody>
      </p:sp>
      <p:sp>
        <p:nvSpPr>
          <p:cNvPr id="360" name="Google Shape;360;p32"/>
          <p:cNvSpPr txBox="1"/>
          <p:nvPr/>
        </p:nvSpPr>
        <p:spPr>
          <a:xfrm>
            <a:off x="609175" y="1591675"/>
            <a:ext cx="5286000" cy="4047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C084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def</a:t>
            </a:r>
            <a:r>
              <a:rPr lang="en-US" sz="1200">
                <a:solidFill>
                  <a:srgbClr val="E2E8F0"/>
                </a:solidFill>
                <a:highlight>
                  <a:srgbClr val="020617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1200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predict</a:t>
            </a:r>
            <a:r>
              <a:rPr lang="en-US" sz="1200">
                <a:solidFill>
                  <a:srgbClr val="E2E8F0"/>
                </a:solidFill>
                <a:highlight>
                  <a:srgbClr val="020617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(self, x, batch_size=1, **kwargs):</a:t>
            </a:r>
            <a:endParaRPr sz="1200">
              <a:solidFill>
                <a:srgbClr val="E2E8F0"/>
              </a:solidFill>
              <a:highlight>
                <a:srgbClr val="020617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E2E8F0"/>
                </a:solidFill>
                <a:highlight>
                  <a:srgbClr val="020617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 </a:t>
            </a:r>
            <a:r>
              <a:rPr i="1" lang="en-US" sz="1200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1. Input Transformation</a:t>
            </a:r>
            <a:endParaRPr sz="1200">
              <a:solidFill>
                <a:srgbClr val="E2E8F0"/>
              </a:solidFill>
              <a:highlight>
                <a:srgbClr val="020617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E2E8F0"/>
                </a:solidFill>
                <a:highlight>
                  <a:srgbClr val="020617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 </a:t>
            </a:r>
            <a:r>
              <a:rPr i="1" lang="en-US" sz="1200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ART gives NCHW float -&gt; YOLO wants NHWC uint8</a:t>
            </a:r>
            <a:endParaRPr sz="1200">
              <a:solidFill>
                <a:srgbClr val="E2E8F0"/>
              </a:solidFill>
              <a:highlight>
                <a:srgbClr val="020617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E2E8F0"/>
                </a:solidFill>
                <a:highlight>
                  <a:srgbClr val="020617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 x_formatted = convert_to_yolo_format(x)</a:t>
            </a:r>
            <a:endParaRPr sz="1200">
              <a:solidFill>
                <a:srgbClr val="E2E8F0"/>
              </a:solidFill>
              <a:highlight>
                <a:srgbClr val="020617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E2E8F0"/>
                </a:solidFill>
                <a:highlight>
                  <a:srgbClr val="020617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 </a:t>
            </a:r>
            <a:endParaRPr sz="1200">
              <a:solidFill>
                <a:srgbClr val="E2E8F0"/>
              </a:solidFill>
              <a:highlight>
                <a:srgbClr val="020617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E2E8F0"/>
                </a:solidFill>
                <a:highlight>
                  <a:srgbClr val="020617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 </a:t>
            </a:r>
            <a:r>
              <a:rPr i="1" lang="en-US" sz="1200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2. Standard Inference (With NMS)</a:t>
            </a:r>
            <a:endParaRPr sz="1200">
              <a:solidFill>
                <a:srgbClr val="E2E8F0"/>
              </a:solidFill>
              <a:highlight>
                <a:srgbClr val="020617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E2E8F0"/>
                </a:solidFill>
                <a:highlight>
                  <a:srgbClr val="020617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 </a:t>
            </a:r>
            <a:r>
              <a:rPr i="1" lang="en-US" sz="1200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We use the standard API here for evaluation</a:t>
            </a:r>
            <a:endParaRPr sz="1200">
              <a:solidFill>
                <a:srgbClr val="E2E8F0"/>
              </a:solidFill>
              <a:highlight>
                <a:srgbClr val="020617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E2E8F0"/>
                </a:solidFill>
                <a:highlight>
                  <a:srgbClr val="020617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 results = self.yolo_obj.predict(x_formatted, verbose=</a:t>
            </a:r>
            <a:r>
              <a:rPr lang="en-US" sz="1200">
                <a:solidFill>
                  <a:srgbClr val="C084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False</a:t>
            </a:r>
            <a:r>
              <a:rPr lang="en-US" sz="1200">
                <a:solidFill>
                  <a:srgbClr val="E2E8F0"/>
                </a:solidFill>
                <a:highlight>
                  <a:srgbClr val="020617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)</a:t>
            </a:r>
            <a:endParaRPr sz="1200">
              <a:solidFill>
                <a:srgbClr val="E2E8F0"/>
              </a:solidFill>
              <a:highlight>
                <a:srgbClr val="020617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E2E8F0"/>
                </a:solidFill>
                <a:highlight>
                  <a:srgbClr val="020617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 </a:t>
            </a:r>
            <a:endParaRPr sz="1200">
              <a:solidFill>
                <a:srgbClr val="E2E8F0"/>
              </a:solidFill>
              <a:highlight>
                <a:srgbClr val="020617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E2E8F0"/>
                </a:solidFill>
                <a:highlight>
                  <a:srgbClr val="020617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 </a:t>
            </a:r>
            <a:r>
              <a:rPr i="1" lang="en-US" sz="1200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3. Parse Results for ART</a:t>
            </a:r>
            <a:endParaRPr sz="1200">
              <a:solidFill>
                <a:srgbClr val="E2E8F0"/>
              </a:solidFill>
              <a:highlight>
                <a:srgbClr val="020617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E2E8F0"/>
                </a:solidFill>
                <a:highlight>
                  <a:srgbClr val="020617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 art_preds = []</a:t>
            </a:r>
            <a:endParaRPr sz="1200">
              <a:solidFill>
                <a:srgbClr val="E2E8F0"/>
              </a:solidFill>
              <a:highlight>
                <a:srgbClr val="020617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E2E8F0"/>
                </a:solidFill>
                <a:highlight>
                  <a:srgbClr val="020617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 </a:t>
            </a:r>
            <a:r>
              <a:rPr lang="en-US" sz="1200">
                <a:solidFill>
                  <a:srgbClr val="C084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for</a:t>
            </a:r>
            <a:r>
              <a:rPr lang="en-US" sz="1200">
                <a:solidFill>
                  <a:srgbClr val="E2E8F0"/>
                </a:solidFill>
                <a:highlight>
                  <a:srgbClr val="020617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res </a:t>
            </a:r>
            <a:r>
              <a:rPr lang="en-US" sz="1200">
                <a:solidFill>
                  <a:srgbClr val="C084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</a:t>
            </a:r>
            <a:r>
              <a:rPr lang="en-US" sz="1200">
                <a:solidFill>
                  <a:srgbClr val="E2E8F0"/>
                </a:solidFill>
                <a:highlight>
                  <a:srgbClr val="020617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results:</a:t>
            </a:r>
            <a:endParaRPr sz="1200">
              <a:solidFill>
                <a:srgbClr val="E2E8F0"/>
              </a:solidFill>
              <a:highlight>
                <a:srgbClr val="020617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E2E8F0"/>
                </a:solidFill>
                <a:highlight>
                  <a:srgbClr val="020617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     prediction = {</a:t>
            </a:r>
            <a:endParaRPr sz="1200">
              <a:solidFill>
                <a:srgbClr val="E2E8F0"/>
              </a:solidFill>
              <a:highlight>
                <a:srgbClr val="020617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E2E8F0"/>
                </a:solidFill>
                <a:highlight>
                  <a:srgbClr val="020617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         </a:t>
            </a:r>
            <a:r>
              <a:rPr lang="en-US" sz="1200">
                <a:solidFill>
                  <a:srgbClr val="A3E63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'boxes'</a:t>
            </a:r>
            <a:r>
              <a:rPr lang="en-US" sz="1200">
                <a:solidFill>
                  <a:srgbClr val="E2E8F0"/>
                </a:solidFill>
                <a:highlight>
                  <a:srgbClr val="020617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: res.boxes.xyxy.cpu().numpy(),</a:t>
            </a:r>
            <a:endParaRPr sz="1200">
              <a:solidFill>
                <a:srgbClr val="E2E8F0"/>
              </a:solidFill>
              <a:highlight>
                <a:srgbClr val="020617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E2E8F0"/>
                </a:solidFill>
                <a:highlight>
                  <a:srgbClr val="020617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         </a:t>
            </a:r>
            <a:r>
              <a:rPr lang="en-US" sz="1200">
                <a:solidFill>
                  <a:srgbClr val="A3E63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'labels'</a:t>
            </a:r>
            <a:r>
              <a:rPr lang="en-US" sz="1200">
                <a:solidFill>
                  <a:srgbClr val="E2E8F0"/>
                </a:solidFill>
                <a:highlight>
                  <a:srgbClr val="020617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: res.boxes.cls.cpu().numpy(),</a:t>
            </a:r>
            <a:endParaRPr sz="1200">
              <a:solidFill>
                <a:srgbClr val="E2E8F0"/>
              </a:solidFill>
              <a:highlight>
                <a:srgbClr val="020617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E2E8F0"/>
                </a:solidFill>
                <a:highlight>
                  <a:srgbClr val="020617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         </a:t>
            </a:r>
            <a:r>
              <a:rPr lang="en-US" sz="1200">
                <a:solidFill>
                  <a:srgbClr val="A3E63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'scores'</a:t>
            </a:r>
            <a:r>
              <a:rPr lang="en-US" sz="1200">
                <a:solidFill>
                  <a:srgbClr val="E2E8F0"/>
                </a:solidFill>
                <a:highlight>
                  <a:srgbClr val="020617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: res.boxes.conf.cpu().numpy()</a:t>
            </a:r>
            <a:endParaRPr sz="1200">
              <a:solidFill>
                <a:srgbClr val="E2E8F0"/>
              </a:solidFill>
              <a:highlight>
                <a:srgbClr val="020617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E2E8F0"/>
                </a:solidFill>
                <a:highlight>
                  <a:srgbClr val="020617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     }</a:t>
            </a:r>
            <a:endParaRPr sz="1200">
              <a:solidFill>
                <a:srgbClr val="E2E8F0"/>
              </a:solidFill>
              <a:highlight>
                <a:srgbClr val="020617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E2E8F0"/>
                </a:solidFill>
                <a:highlight>
                  <a:srgbClr val="020617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     art_preds.append(prediction)</a:t>
            </a:r>
            <a:endParaRPr sz="1200">
              <a:solidFill>
                <a:srgbClr val="E2E8F0"/>
              </a:solidFill>
              <a:highlight>
                <a:srgbClr val="020617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E2E8F0"/>
                </a:solidFill>
                <a:highlight>
                  <a:srgbClr val="020617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     </a:t>
            </a:r>
            <a:endParaRPr sz="1200">
              <a:solidFill>
                <a:srgbClr val="E2E8F0"/>
              </a:solidFill>
              <a:highlight>
                <a:srgbClr val="020617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E2E8F0"/>
                </a:solidFill>
                <a:highlight>
                  <a:srgbClr val="020617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 </a:t>
            </a:r>
            <a:r>
              <a:rPr lang="en-US" sz="1200">
                <a:solidFill>
                  <a:srgbClr val="C084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return</a:t>
            </a:r>
            <a:r>
              <a:rPr lang="en-US" sz="1200">
                <a:solidFill>
                  <a:srgbClr val="E2E8F0"/>
                </a:solidFill>
                <a:highlight>
                  <a:srgbClr val="020617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art_preds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33"/>
          <p:cNvSpPr txBox="1"/>
          <p:nvPr/>
        </p:nvSpPr>
        <p:spPr>
          <a:xfrm>
            <a:off x="762000" y="476250"/>
            <a:ext cx="7060882" cy="377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CRUCIAL: LOSS GRADIENT METHOD</a:t>
            </a:r>
            <a:endParaRPr/>
          </a:p>
        </p:txBody>
      </p:sp>
      <p:sp>
        <p:nvSpPr>
          <p:cNvPr id="366" name="Google Shape;366;p33"/>
          <p:cNvSpPr/>
          <p:nvPr/>
        </p:nvSpPr>
        <p:spPr>
          <a:xfrm>
            <a:off x="571500" y="476250"/>
            <a:ext cx="38100" cy="37713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33"/>
          <p:cNvSpPr txBox="1"/>
          <p:nvPr/>
        </p:nvSpPr>
        <p:spPr>
          <a:xfrm>
            <a:off x="571500" y="1999357"/>
            <a:ext cx="5500687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818CF8"/>
                </a:solidFill>
                <a:latin typeface="Inter"/>
                <a:ea typeface="Inter"/>
                <a:cs typeface="Inter"/>
                <a:sym typeface="Inter"/>
              </a:rPr>
              <a:t>Exposing the Gradients</a:t>
            </a:r>
            <a:endParaRPr/>
          </a:p>
        </p:txBody>
      </p:sp>
      <p:sp>
        <p:nvSpPr>
          <p:cNvPr id="368" name="Google Shape;368;p33"/>
          <p:cNvSpPr txBox="1"/>
          <p:nvPr/>
        </p:nvSpPr>
        <p:spPr>
          <a:xfrm>
            <a:off x="571500" y="2563117"/>
            <a:ext cx="52389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This is the core of the attack. We bypass the NMS and access the raw logic outputs.</a:t>
            </a:r>
            <a:endParaRPr/>
          </a:p>
        </p:txBody>
      </p:sp>
      <p:sp>
        <p:nvSpPr>
          <p:cNvPr id="369" name="Google Shape;369;p33"/>
          <p:cNvSpPr txBox="1"/>
          <p:nvPr/>
        </p:nvSpPr>
        <p:spPr>
          <a:xfrm>
            <a:off x="438150" y="3325117"/>
            <a:ext cx="1333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1.</a:t>
            </a:r>
            <a:endParaRPr/>
          </a:p>
        </p:txBody>
      </p:sp>
      <p:sp>
        <p:nvSpPr>
          <p:cNvPr id="370" name="Google Shape;370;p33"/>
          <p:cNvSpPr txBox="1"/>
          <p:nvPr/>
        </p:nvSpPr>
        <p:spPr>
          <a:xfrm>
            <a:off x="571500" y="3325117"/>
            <a:ext cx="52387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333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Mode Switch: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Set model to train() mode. This disables NMS and returns raw tensors.</a:t>
            </a:r>
            <a:endParaRPr/>
          </a:p>
        </p:txBody>
      </p:sp>
      <p:sp>
        <p:nvSpPr>
          <p:cNvPr id="371" name="Google Shape;371;p33"/>
          <p:cNvSpPr txBox="1"/>
          <p:nvPr/>
        </p:nvSpPr>
        <p:spPr>
          <a:xfrm>
            <a:off x="400050" y="4096642"/>
            <a:ext cx="1714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2.</a:t>
            </a:r>
            <a:endParaRPr/>
          </a:p>
        </p:txBody>
      </p:sp>
      <p:sp>
        <p:nvSpPr>
          <p:cNvPr id="372" name="Google Shape;372;p33"/>
          <p:cNvSpPr txBox="1"/>
          <p:nvPr/>
        </p:nvSpPr>
        <p:spPr>
          <a:xfrm>
            <a:off x="571500" y="4096642"/>
            <a:ext cx="5238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714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Adversarial Loss: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We define loss as the </a:t>
            </a:r>
            <a:r>
              <a:rPr b="1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Mean Objectness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across all grid cells.</a:t>
            </a:r>
            <a:endParaRPr/>
          </a:p>
        </p:txBody>
      </p:sp>
      <p:sp>
        <p:nvSpPr>
          <p:cNvPr id="373" name="Google Shape;373;p33"/>
          <p:cNvSpPr txBox="1"/>
          <p:nvPr/>
        </p:nvSpPr>
        <p:spPr>
          <a:xfrm>
            <a:off x="400050" y="4858642"/>
            <a:ext cx="1714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3.</a:t>
            </a:r>
            <a:endParaRPr/>
          </a:p>
        </p:txBody>
      </p:sp>
      <p:sp>
        <p:nvSpPr>
          <p:cNvPr id="374" name="Google Shape;374;p33"/>
          <p:cNvSpPr txBox="1"/>
          <p:nvPr/>
        </p:nvSpPr>
        <p:spPr>
          <a:xfrm>
            <a:off x="571500" y="4858642"/>
            <a:ext cx="5238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7145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Optimization Goal: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Minimize this objectness. This forces the model to believe "nothing is here."</a:t>
            </a:r>
            <a:endParaRPr/>
          </a:p>
        </p:txBody>
      </p:sp>
      <p:sp>
        <p:nvSpPr>
          <p:cNvPr id="375" name="Google Shape;375;p33"/>
          <p:cNvSpPr txBox="1"/>
          <p:nvPr/>
        </p:nvSpPr>
        <p:spPr>
          <a:xfrm>
            <a:off x="7251000" y="2014175"/>
            <a:ext cx="4598100" cy="4008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C084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def</a:t>
            </a:r>
            <a:r>
              <a:rPr lang="en-US" sz="1200">
                <a:solidFill>
                  <a:srgbClr val="E2E8F0"/>
                </a:solidFill>
                <a:highlight>
                  <a:srgbClr val="020617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1200">
                <a:solidFill>
                  <a:srgbClr val="38BD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loss_gradient</a:t>
            </a:r>
            <a:r>
              <a:rPr lang="en-US" sz="1200">
                <a:solidFill>
                  <a:srgbClr val="E2E8F0"/>
                </a:solidFill>
                <a:highlight>
                  <a:srgbClr val="020617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(self, x, y=None, **kwargs):</a:t>
            </a:r>
            <a:endParaRPr sz="1200">
              <a:solidFill>
                <a:srgbClr val="E2E8F0"/>
              </a:solidFill>
              <a:highlight>
                <a:srgbClr val="020617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E2E8F0"/>
                </a:solidFill>
                <a:highlight>
                  <a:srgbClr val="020617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 </a:t>
            </a:r>
            <a:endParaRPr sz="1200">
              <a:solidFill>
                <a:srgbClr val="E2E8F0"/>
              </a:solidFill>
              <a:highlight>
                <a:srgbClr val="020617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200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# 1. Enable Gradients on Input</a:t>
            </a:r>
            <a:endParaRPr sz="1200">
              <a:solidFill>
                <a:srgbClr val="E2E8F0"/>
              </a:solidFill>
              <a:highlight>
                <a:srgbClr val="020617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E2E8F0"/>
                </a:solidFill>
                <a:highlight>
                  <a:srgbClr val="020617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 x_tensor = torch.tensor(x).to(device)</a:t>
            </a:r>
            <a:endParaRPr sz="1200">
              <a:solidFill>
                <a:srgbClr val="E2E8F0"/>
              </a:solidFill>
              <a:highlight>
                <a:srgbClr val="020617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E2E8F0"/>
                </a:solidFill>
                <a:highlight>
                  <a:srgbClr val="020617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 x_tensor.requires_grad = </a:t>
            </a:r>
            <a:r>
              <a:rPr lang="en-US" sz="1200">
                <a:solidFill>
                  <a:srgbClr val="C084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True</a:t>
            </a:r>
            <a:endParaRPr sz="1200">
              <a:solidFill>
                <a:srgbClr val="E2E8F0"/>
              </a:solidFill>
              <a:highlight>
                <a:srgbClr val="020617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E2E8F0"/>
                </a:solidFill>
                <a:highlight>
                  <a:srgbClr val="020617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 </a:t>
            </a:r>
            <a:endParaRPr sz="1200">
              <a:solidFill>
                <a:srgbClr val="E2E8F0"/>
              </a:solidFill>
              <a:highlight>
                <a:srgbClr val="020617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E2E8F0"/>
                </a:solidFill>
                <a:highlight>
                  <a:srgbClr val="020617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 </a:t>
            </a:r>
            <a:r>
              <a:rPr i="1" lang="en-US" sz="1200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2. Switch to Train Mode (Bypass NMS)</a:t>
            </a:r>
            <a:endParaRPr sz="1200">
              <a:solidFill>
                <a:srgbClr val="E2E8F0"/>
              </a:solidFill>
              <a:highlight>
                <a:srgbClr val="020617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E2E8F0"/>
                </a:solidFill>
                <a:highlight>
                  <a:srgbClr val="020617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 self.model.train()</a:t>
            </a:r>
            <a:endParaRPr sz="1200">
              <a:solidFill>
                <a:srgbClr val="E2E8F0"/>
              </a:solidFill>
              <a:highlight>
                <a:srgbClr val="020617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E2E8F0"/>
                </a:solidFill>
                <a:highlight>
                  <a:srgbClr val="020617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 </a:t>
            </a:r>
            <a:endParaRPr sz="1200">
              <a:solidFill>
                <a:srgbClr val="E2E8F0"/>
              </a:solidFill>
              <a:highlight>
                <a:srgbClr val="020617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E2E8F0"/>
                </a:solidFill>
                <a:highlight>
                  <a:srgbClr val="020617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 </a:t>
            </a:r>
            <a:r>
              <a:rPr i="1" lang="en-US" sz="1200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3. Forward Pass (Raw Outputs)</a:t>
            </a:r>
            <a:endParaRPr sz="1200">
              <a:solidFill>
                <a:srgbClr val="E2E8F0"/>
              </a:solidFill>
              <a:highlight>
                <a:srgbClr val="020617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E2E8F0"/>
                </a:solidFill>
                <a:highlight>
                  <a:srgbClr val="020617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 preds = self.model(x_tensor)</a:t>
            </a:r>
            <a:endParaRPr sz="1200">
              <a:solidFill>
                <a:srgbClr val="E2E8F0"/>
              </a:solidFill>
              <a:highlight>
                <a:srgbClr val="020617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E2E8F0"/>
                </a:solidFill>
                <a:highlight>
                  <a:srgbClr val="020617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 </a:t>
            </a:r>
            <a:endParaRPr sz="1200">
              <a:solidFill>
                <a:srgbClr val="E2E8F0"/>
              </a:solidFill>
              <a:highlight>
                <a:srgbClr val="020617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E2E8F0"/>
                </a:solidFill>
                <a:highlight>
                  <a:srgbClr val="020617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 </a:t>
            </a:r>
            <a:r>
              <a:rPr i="1" lang="en-US" sz="1200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4. Compute Adversarial Loss</a:t>
            </a:r>
            <a:endParaRPr sz="1200">
              <a:solidFill>
                <a:srgbClr val="E2E8F0"/>
              </a:solidFill>
              <a:highlight>
                <a:srgbClr val="020617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E2E8F0"/>
                </a:solidFill>
                <a:highlight>
                  <a:srgbClr val="020617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 </a:t>
            </a:r>
            <a:r>
              <a:rPr i="1" lang="en-US" sz="1200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Target: Minimize mean objectness score</a:t>
            </a:r>
            <a:endParaRPr sz="1200">
              <a:solidFill>
                <a:srgbClr val="E2E8F0"/>
              </a:solidFill>
              <a:highlight>
                <a:srgbClr val="020617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E2E8F0"/>
                </a:solidFill>
                <a:highlight>
                  <a:srgbClr val="020617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 loss = torch.mean(preds[</a:t>
            </a:r>
            <a:r>
              <a:rPr lang="en-US" sz="1200">
                <a:solidFill>
                  <a:srgbClr val="A3E63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'objectness'</a:t>
            </a:r>
            <a:r>
              <a:rPr lang="en-US" sz="1200">
                <a:solidFill>
                  <a:srgbClr val="E2E8F0"/>
                </a:solidFill>
                <a:highlight>
                  <a:srgbClr val="020617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])</a:t>
            </a:r>
            <a:endParaRPr sz="1200">
              <a:solidFill>
                <a:srgbClr val="E2E8F0"/>
              </a:solidFill>
              <a:highlight>
                <a:srgbClr val="020617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E2E8F0"/>
                </a:solidFill>
                <a:highlight>
                  <a:srgbClr val="020617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 </a:t>
            </a:r>
            <a:endParaRPr sz="1200">
              <a:solidFill>
                <a:srgbClr val="E2E8F0"/>
              </a:solidFill>
              <a:highlight>
                <a:srgbClr val="020617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E2E8F0"/>
                </a:solidFill>
                <a:highlight>
                  <a:srgbClr val="020617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 </a:t>
            </a:r>
            <a:r>
              <a:rPr i="1" lang="en-US" sz="1200">
                <a:solidFill>
                  <a:srgbClr val="64748B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5. Backward Pass</a:t>
            </a:r>
            <a:endParaRPr sz="1200">
              <a:solidFill>
                <a:srgbClr val="E2E8F0"/>
              </a:solidFill>
              <a:highlight>
                <a:srgbClr val="020617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E2E8F0"/>
                </a:solidFill>
                <a:highlight>
                  <a:srgbClr val="020617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 loss.backward()</a:t>
            </a:r>
            <a:endParaRPr sz="1200">
              <a:solidFill>
                <a:srgbClr val="E2E8F0"/>
              </a:solidFill>
              <a:highlight>
                <a:srgbClr val="020617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E2E8F0"/>
                </a:solidFill>
                <a:highlight>
                  <a:srgbClr val="020617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 </a:t>
            </a:r>
            <a:endParaRPr sz="1200">
              <a:solidFill>
                <a:srgbClr val="E2E8F0"/>
              </a:solidFill>
              <a:highlight>
                <a:srgbClr val="020617"/>
              </a:highlight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E2E8F0"/>
                </a:solidFill>
                <a:highlight>
                  <a:srgbClr val="020617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   </a:t>
            </a:r>
            <a:r>
              <a:rPr lang="en-US" sz="1200">
                <a:solidFill>
                  <a:srgbClr val="C084F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return</a:t>
            </a:r>
            <a:r>
              <a:rPr lang="en-US" sz="1200">
                <a:solidFill>
                  <a:srgbClr val="E2E8F0"/>
                </a:solidFill>
                <a:highlight>
                  <a:srgbClr val="020617"/>
                </a:highlight>
                <a:latin typeface="JetBrains Mono"/>
                <a:ea typeface="JetBrains Mono"/>
                <a:cs typeface="JetBrains Mono"/>
                <a:sym typeface="JetBrains Mono"/>
              </a:rPr>
              <a:t> x_tensor.grad.cpu().numpy()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34"/>
          <p:cNvSpPr txBox="1"/>
          <p:nvPr>
            <p:ph type="title"/>
          </p:nvPr>
        </p:nvSpPr>
        <p:spPr>
          <a:xfrm>
            <a:off x="2054850" y="106538"/>
            <a:ext cx="82296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38BDF8"/>
                </a:solidFill>
              </a:rPr>
              <a:t>Training Recipe</a:t>
            </a:r>
            <a:endParaRPr>
              <a:solidFill>
                <a:srgbClr val="38BDF8"/>
              </a:solidFill>
            </a:endParaRPr>
          </a:p>
        </p:txBody>
      </p:sp>
      <p:sp>
        <p:nvSpPr>
          <p:cNvPr id="381" name="Google Shape;381;p34"/>
          <p:cNvSpPr txBox="1"/>
          <p:nvPr>
            <p:ph idx="1" type="body"/>
          </p:nvPr>
        </p:nvSpPr>
        <p:spPr>
          <a:xfrm>
            <a:off x="186075" y="1249550"/>
            <a:ext cx="11696100" cy="4963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The 4-Step Optimization Loop</a:t>
            </a:r>
            <a:endParaRPr b="1" sz="2000">
              <a:solidFill>
                <a:srgbClr val="38BDF8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1. Initialization:</a:t>
            </a:r>
            <a:endParaRPr b="1" sz="16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The algorithm starts by creating a "Patch Tensor." This is a square of pixels (RGB) initialized with random noise.</a:t>
            </a:r>
            <a:endParaRPr sz="16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2. Expectation over Transformation:</a:t>
            </a:r>
            <a:endParaRPr b="1" sz="16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 every single iteration of the training loop, the algorithm applies the patch to a batch of images. However, it does not just paste it; it applies random physical distortions to simulate real-world conditions.</a:t>
            </a:r>
            <a:endParaRPr sz="16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3. Forward Pass &amp; Loss Calculation:</a:t>
            </a:r>
            <a:endParaRPr b="1" sz="16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The transformed images are fed into the YOLOv9 model (in training mode to bypass NMS). The algorithm then calculates the </a:t>
            </a:r>
            <a:r>
              <a:rPr b="1" lang="en-US"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Loss.</a:t>
            </a:r>
            <a:endParaRPr b="1" sz="16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4. Backward Pass (The Learning)</a:t>
            </a:r>
            <a:endParaRPr b="1" sz="16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Using backpropagation (loss.backward()), the algorithm calculates the gradient of the loss with respect to the </a:t>
            </a:r>
            <a:r>
              <a:rPr b="1" lang="en-US"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pixels of the patch</a:t>
            </a:r>
            <a:r>
              <a:rPr lang="en-US"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i="1" sz="16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Char char="●"/>
            </a:pPr>
            <a:r>
              <a:rPr b="1" lang="en-US"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Update:</a:t>
            </a:r>
            <a:r>
              <a:rPr lang="en-US"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The optimizer uses these gradients to adjust the patch pixels in the opposite direction, making the patch slightly better at hiding the object</a:t>
            </a:r>
            <a:endParaRPr b="1" sz="16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35"/>
          <p:cNvSpPr txBox="1"/>
          <p:nvPr/>
        </p:nvSpPr>
        <p:spPr>
          <a:xfrm>
            <a:off x="762000" y="476250"/>
            <a:ext cx="4930616" cy="377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PATCH ATTACK RESULTS</a:t>
            </a:r>
            <a:endParaRPr/>
          </a:p>
        </p:txBody>
      </p:sp>
      <p:sp>
        <p:nvSpPr>
          <p:cNvPr id="387" name="Google Shape;387;p35"/>
          <p:cNvSpPr/>
          <p:nvPr/>
        </p:nvSpPr>
        <p:spPr>
          <a:xfrm>
            <a:off x="571500" y="476250"/>
            <a:ext cx="38100" cy="37713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88" name="Google Shape;388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44950" y="2186551"/>
            <a:ext cx="9102099" cy="226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93" name="Google Shape;393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81750" y="1333500"/>
            <a:ext cx="5238750" cy="5238750"/>
          </a:xfrm>
          <a:prstGeom prst="rect">
            <a:avLst/>
          </a:prstGeom>
          <a:noFill/>
          <a:ln>
            <a:noFill/>
          </a:ln>
        </p:spPr>
      </p:pic>
      <p:sp>
        <p:nvSpPr>
          <p:cNvPr id="394" name="Google Shape;394;p36"/>
          <p:cNvSpPr txBox="1"/>
          <p:nvPr/>
        </p:nvSpPr>
        <p:spPr>
          <a:xfrm>
            <a:off x="762000" y="476250"/>
            <a:ext cx="2700337" cy="3771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CONCLUSION</a:t>
            </a:r>
            <a:endParaRPr/>
          </a:p>
        </p:txBody>
      </p:sp>
      <p:sp>
        <p:nvSpPr>
          <p:cNvPr id="395" name="Google Shape;395;p36"/>
          <p:cNvSpPr/>
          <p:nvPr/>
        </p:nvSpPr>
        <p:spPr>
          <a:xfrm>
            <a:off x="571500" y="476250"/>
            <a:ext cx="38100" cy="37713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36"/>
          <p:cNvSpPr txBox="1"/>
          <p:nvPr/>
        </p:nvSpPr>
        <p:spPr>
          <a:xfrm>
            <a:off x="571500" y="1680269"/>
            <a:ext cx="5500687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818CF8"/>
                </a:solidFill>
                <a:latin typeface="Inter"/>
                <a:ea typeface="Inter"/>
                <a:cs typeface="Inter"/>
                <a:sym typeface="Inter"/>
              </a:rPr>
              <a:t>Vulnerability Profile</a:t>
            </a:r>
            <a:endParaRPr/>
          </a:p>
        </p:txBody>
      </p:sp>
      <p:sp>
        <p:nvSpPr>
          <p:cNvPr id="397" name="Google Shape;397;p36"/>
          <p:cNvSpPr txBox="1"/>
          <p:nvPr/>
        </p:nvSpPr>
        <p:spPr>
          <a:xfrm>
            <a:off x="571500" y="2244030"/>
            <a:ext cx="5238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Our comprehensive analysis reveals the security posture of YOLOv9e:</a:t>
            </a:r>
            <a:endParaRPr/>
          </a:p>
        </p:txBody>
      </p:sp>
      <p:pic>
        <p:nvPicPr>
          <p:cNvPr descr="image.png" id="398" name="Google Shape;398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333500"/>
            <a:ext cx="5238750" cy="5238750"/>
          </a:xfrm>
          <a:prstGeom prst="rect">
            <a:avLst/>
          </a:prstGeom>
          <a:noFill/>
          <a:ln>
            <a:noFill/>
          </a:ln>
        </p:spPr>
      </p:pic>
      <p:sp>
        <p:nvSpPr>
          <p:cNvPr id="399" name="Google Shape;399;p36"/>
          <p:cNvSpPr txBox="1"/>
          <p:nvPr/>
        </p:nvSpPr>
        <p:spPr>
          <a:xfrm>
            <a:off x="466725" y="3044130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400" name="Google Shape;400;p36"/>
          <p:cNvSpPr txBox="1"/>
          <p:nvPr/>
        </p:nvSpPr>
        <p:spPr>
          <a:xfrm>
            <a:off x="571500" y="3044130"/>
            <a:ext cx="52387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ADE80"/>
                </a:solidFill>
                <a:latin typeface="Inter"/>
                <a:ea typeface="Inter"/>
                <a:cs typeface="Inter"/>
                <a:sym typeface="Inter"/>
              </a:rPr>
              <a:t>Resilient: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The model is highly robust to sparse, random noise (Pixel attacks). You cannot break it by changing a few dots.</a:t>
            </a:r>
            <a:endParaRPr/>
          </a:p>
        </p:txBody>
      </p:sp>
      <p:sp>
        <p:nvSpPr>
          <p:cNvPr id="401" name="Google Shape;401;p36"/>
          <p:cNvSpPr txBox="1"/>
          <p:nvPr/>
        </p:nvSpPr>
        <p:spPr>
          <a:xfrm>
            <a:off x="466725" y="4101405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402" name="Google Shape;402;p36"/>
          <p:cNvSpPr txBox="1"/>
          <p:nvPr/>
        </p:nvSpPr>
        <p:spPr>
          <a:xfrm>
            <a:off x="571500" y="4101405"/>
            <a:ext cx="52387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87171"/>
                </a:solidFill>
                <a:latin typeface="Inter"/>
                <a:ea typeface="Inter"/>
                <a:cs typeface="Inter"/>
                <a:sym typeface="Inter"/>
              </a:rPr>
              <a:t>Vulnerable: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The model crumbles under gradient-aligned perturbations (FGSM). Deep feature hierarchies propagate these errors effectively.</a:t>
            </a:r>
            <a:endParaRPr/>
          </a:p>
        </p:txBody>
      </p:sp>
      <p:sp>
        <p:nvSpPr>
          <p:cNvPr id="403" name="Google Shape;403;p36"/>
          <p:cNvSpPr txBox="1"/>
          <p:nvPr/>
        </p:nvSpPr>
        <p:spPr>
          <a:xfrm>
            <a:off x="466725" y="5158680"/>
            <a:ext cx="1047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404" name="Google Shape;404;p36"/>
          <p:cNvSpPr txBox="1"/>
          <p:nvPr/>
        </p:nvSpPr>
        <p:spPr>
          <a:xfrm>
            <a:off x="571500" y="5158680"/>
            <a:ext cx="52387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BBF24"/>
                </a:solidFill>
                <a:latin typeface="Inter"/>
                <a:ea typeface="Inter"/>
                <a:cs typeface="Inter"/>
                <a:sym typeface="Inter"/>
              </a:rPr>
              <a:t>Compromised:</a:t>
            </a:r>
            <a:r>
              <a:rPr b="0" i="0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 Patch attacks are a viable real-world threat. A single printed sticker could theoretically blind the model to aerial targets.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